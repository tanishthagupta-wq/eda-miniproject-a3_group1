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4630400" cy="8229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8" name="Shape 1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  <a:ln w="12700">
            <a:miter lim="400000"/>
          </a:ln>
        </p:spPr>
      </p:pic>
      <p:sp>
        <p:nvSpPr>
          <p:cNvPr id="19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20" name="Image 1" descr="Image 1">
            <a:hlinkClick r:id="rId3" invalidUrl="" action="" tgtFrame="" tooltip="" history="1" highlightClick="0" endSnd="0"/>
          </p:cNvPr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2839214" y="7749540"/>
            <a:ext cx="1722606" cy="411481"/>
          </a:xfrm>
          <a:prstGeom prst="rect">
            <a:avLst/>
          </a:prstGeom>
          <a:ln w="12700">
            <a:miter lim="400000"/>
          </a:ln>
        </p:spPr>
      </p:pic>
      <p:sp>
        <p:nvSpPr>
          <p:cNvPr id="2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  <a:ln w="12700">
            <a:miter lim="400000"/>
          </a:ln>
        </p:spPr>
      </p:pic>
      <p:sp>
        <p:nvSpPr>
          <p:cNvPr id="29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30" name="Image 1" descr="Image 1">
            <a:hlinkClick r:id="rId3" invalidUrl="" action="" tgtFrame="" tooltip="" history="1" highlightClick="0" endSnd="0"/>
          </p:cNvPr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2839214" y="7749540"/>
            <a:ext cx="1722606" cy="411481"/>
          </a:xfrm>
          <a:prstGeom prst="rect">
            <a:avLst/>
          </a:prstGeom>
          <a:ln w="12700">
            <a:miter lim="400000"/>
          </a:ln>
        </p:spPr>
      </p:pic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  <a:ln w="12700">
            <a:miter lim="400000"/>
          </a:ln>
        </p:spPr>
      </p:pic>
      <p:sp>
        <p:nvSpPr>
          <p:cNvPr id="39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40" name="Image 1" descr="Image 1">
            <a:hlinkClick r:id="rId3" invalidUrl="" action="" tgtFrame="" tooltip="" history="1" highlightClick="0" endSnd="0"/>
          </p:cNvPr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2839214" y="7749540"/>
            <a:ext cx="1722606" cy="411481"/>
          </a:xfrm>
          <a:prstGeom prst="rect">
            <a:avLst/>
          </a:prstGeom>
          <a:ln w="12700">
            <a:miter lim="400000"/>
          </a:ln>
        </p:spPr>
      </p:pic>
      <p:sp>
        <p:nvSpPr>
          <p:cNvPr id="4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  <a:ln w="12700">
            <a:miter lim="400000"/>
          </a:ln>
        </p:spPr>
      </p:pic>
      <p:sp>
        <p:nvSpPr>
          <p:cNvPr id="49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50" name="Image 1" descr="Image 1">
            <a:hlinkClick r:id="rId3" invalidUrl="" action="" tgtFrame="" tooltip="" history="1" highlightClick="0" endSnd="0"/>
          </p:cNvPr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2839214" y="7749540"/>
            <a:ext cx="1722606" cy="411481"/>
          </a:xfrm>
          <a:prstGeom prst="rect">
            <a:avLst/>
          </a:prstGeom>
          <a:ln w="12700">
            <a:miter lim="400000"/>
          </a:ln>
        </p:spPr>
      </p:pic>
      <p:sp>
        <p:nvSpPr>
          <p:cNvPr id="5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  <a:ln w="12700">
            <a:miter lim="400000"/>
          </a:ln>
        </p:spPr>
      </p:pic>
      <p:sp>
        <p:nvSpPr>
          <p:cNvPr id="59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60" name="Image 1" descr="Image 1">
            <a:hlinkClick r:id="rId3" invalidUrl="" action="" tgtFrame="" tooltip="" history="1" highlightClick="0" endSnd="0"/>
          </p:cNvPr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2839214" y="7749540"/>
            <a:ext cx="1722606" cy="411481"/>
          </a:xfrm>
          <a:prstGeom prst="rect">
            <a:avLst/>
          </a:prstGeom>
          <a:ln w="12700">
            <a:miter lim="400000"/>
          </a:ln>
        </p:spPr>
      </p:pic>
      <p:sp>
        <p:nvSpPr>
          <p:cNvPr id="6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  <a:ln w="12700">
            <a:miter lim="400000"/>
          </a:ln>
        </p:spPr>
      </p:pic>
      <p:sp>
        <p:nvSpPr>
          <p:cNvPr id="69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70" name="Image 1" descr="Image 1">
            <a:hlinkClick r:id="rId3" invalidUrl="" action="" tgtFrame="" tooltip="" history="1" highlightClick="0" endSnd="0"/>
          </p:cNvPr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2839214" y="7749540"/>
            <a:ext cx="1722606" cy="411481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  <a:ln w="12700">
            <a:miter lim="400000"/>
          </a:ln>
        </p:spPr>
      </p:pic>
      <p:sp>
        <p:nvSpPr>
          <p:cNvPr id="79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80" name="Image 1" descr="Image 1">
            <a:hlinkClick r:id="rId3" invalidUrl="" action="" tgtFrame="" tooltip="" history="1" highlightClick="0" endSnd="0"/>
          </p:cNvPr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2839214" y="7749540"/>
            <a:ext cx="1722606" cy="411481"/>
          </a:xfrm>
          <a:prstGeom prst="rect">
            <a:avLst/>
          </a:prstGeom>
          <a:ln w="12700">
            <a:miter lim="400000"/>
          </a:ln>
        </p:spPr>
      </p:pic>
      <p:sp>
        <p:nvSpPr>
          <p:cNvPr id="8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  <a:ln w="12700">
            <a:miter lim="400000"/>
          </a:ln>
        </p:spPr>
      </p:pic>
      <p:sp>
        <p:nvSpPr>
          <p:cNvPr id="89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90" name="Image 1" descr="Image 1">
            <a:hlinkClick r:id="rId3" invalidUrl="" action="" tgtFrame="" tooltip="" history="1" highlightClick="0" endSnd="0"/>
          </p:cNvPr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2839214" y="7749540"/>
            <a:ext cx="1722606" cy="411481"/>
          </a:xfrm>
          <a:prstGeom prst="rect">
            <a:avLst/>
          </a:prstGeom>
          <a:ln w="12700">
            <a:miter lim="400000"/>
          </a:ln>
        </p:spPr>
      </p:pic>
      <p:sp>
        <p:nvSpPr>
          <p:cNvPr id="9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  <a:ln w="12700">
            <a:miter lim="400000"/>
          </a:ln>
        </p:spPr>
      </p:pic>
      <p:sp>
        <p:nvSpPr>
          <p:cNvPr id="99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00" name="Image 1" descr="Image 1">
            <a:hlinkClick r:id="rId3" invalidUrl="" action="" tgtFrame="" tooltip="" history="1" highlightClick="0" endSnd="0"/>
          </p:cNvPr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2839214" y="7749540"/>
            <a:ext cx="1722606" cy="411481"/>
          </a:xfrm>
          <a:prstGeom prst="rect">
            <a:avLst/>
          </a:prstGeom>
          <a:ln w="12700">
            <a:miter lim="400000"/>
          </a:ln>
        </p:spPr>
      </p:pic>
      <p:sp>
        <p:nvSpPr>
          <p:cNvPr id="10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  <a:ln w="12700">
            <a:miter lim="400000"/>
          </a:ln>
        </p:spPr>
      </p:pic>
      <p:sp>
        <p:nvSpPr>
          <p:cNvPr id="109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10" name="Image 1" descr="Image 1">
            <a:hlinkClick r:id="rId3" invalidUrl="" action="" tgtFrame="" tooltip="" history="1" highlightClick="0" endSnd="0"/>
          </p:cNvPr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2839214" y="7749540"/>
            <a:ext cx="1722606" cy="411481"/>
          </a:xfrm>
          <a:prstGeom prst="rect">
            <a:avLst/>
          </a:prstGeom>
          <a:ln w="12700">
            <a:miter lim="400000"/>
          </a:ln>
        </p:spPr>
      </p:pic>
      <p:sp>
        <p:nvSpPr>
          <p:cNvPr id="1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731519" y="110489"/>
            <a:ext cx="13167362" cy="1809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731519" y="1920239"/>
            <a:ext cx="13167362" cy="63093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7071359" y="7408544"/>
            <a:ext cx="3413761" cy="43815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5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hyperlink" Target="https://github.com/tanishthagupta-wq/EDA-MiniProject-A3_Group1" TargetMode="External"/><Relationship Id="rId3" Type="http://schemas.openxmlformats.org/officeDocument/2006/relationships/hyperlink" Target="https://github.com/theTanmayAgarwal/EDA-MiniProject-A3_Group1" TargetMode="External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  <a:ln w="12700">
            <a:miter lim="400000"/>
          </a:ln>
        </p:spPr>
      </p:pic>
      <p:sp>
        <p:nvSpPr>
          <p:cNvPr id="121" name="Text 0"/>
          <p:cNvSpPr txBox="1"/>
          <p:nvPr/>
        </p:nvSpPr>
        <p:spPr>
          <a:xfrm>
            <a:off x="6280189" y="1834871"/>
            <a:ext cx="7556422" cy="1385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5500"/>
              </a:lnSpc>
              <a:defRPr sz="4400">
                <a:solidFill>
                  <a:srgbClr val="373B48"/>
                </a:solidFill>
                <a:latin typeface="Mona Sans Semi Bold"/>
                <a:ea typeface="Mona Sans Semi Bold"/>
                <a:cs typeface="Mona Sans Semi Bold"/>
                <a:sym typeface="Mona Sans Semi Bold"/>
              </a:defRPr>
            </a:lvl1pPr>
          </a:lstStyle>
          <a:p>
            <a:pPr/>
            <a:r>
              <a:t>Exploratory Data Analysis on Student Daily Commute</a:t>
            </a:r>
          </a:p>
        </p:txBody>
      </p:sp>
      <p:sp>
        <p:nvSpPr>
          <p:cNvPr id="122" name="Text 1"/>
          <p:cNvSpPr txBox="1"/>
          <p:nvPr/>
        </p:nvSpPr>
        <p:spPr>
          <a:xfrm>
            <a:off x="6280189" y="3592591"/>
            <a:ext cx="7556422" cy="3341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170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</a:lstStyle>
          <a:p>
            <a:pPr/>
            <a:r>
              <a:t>Investigating patterns, costs, and bottlenecks in student travel across Pune.</a:t>
            </a:r>
          </a:p>
        </p:txBody>
      </p:sp>
      <p:sp>
        <p:nvSpPr>
          <p:cNvPr id="123" name="Shape 2"/>
          <p:cNvSpPr/>
          <p:nvPr/>
        </p:nvSpPr>
        <p:spPr>
          <a:xfrm>
            <a:off x="5996701" y="4658559"/>
            <a:ext cx="8261167" cy="1581882"/>
          </a:xfrm>
          <a:prstGeom prst="roundRect">
            <a:avLst>
              <a:gd name="adj" fmla="val 5231"/>
            </a:avLst>
          </a:prstGeom>
          <a:solidFill>
            <a:srgbClr val="E2E4E9"/>
          </a:solidFill>
          <a:ln w="7620">
            <a:solidFill>
              <a:srgbClr val="C8CAC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4" name="Text 4"/>
          <p:cNvSpPr txBox="1"/>
          <p:nvPr/>
        </p:nvSpPr>
        <p:spPr>
          <a:xfrm>
            <a:off x="6142089" y="4855233"/>
            <a:ext cx="4925939" cy="338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200">
                <a:solidFill>
                  <a:srgbClr val="52586B"/>
                </a:solidFill>
                <a:latin typeface="Mona Sans Semi Bold"/>
                <a:ea typeface="Mona Sans Semi Bold"/>
                <a:cs typeface="Mona Sans Semi Bold"/>
                <a:sym typeface="Mona Sans Semi Bold"/>
              </a:defRPr>
            </a:lvl1pPr>
          </a:lstStyle>
          <a:p>
            <a:pPr/>
            <a:r>
              <a:t>Symbiosis Institute of Technology, Pune</a:t>
            </a:r>
          </a:p>
        </p:txBody>
      </p:sp>
      <p:sp>
        <p:nvSpPr>
          <p:cNvPr id="125" name="Text 5"/>
          <p:cNvSpPr txBox="1"/>
          <p:nvPr/>
        </p:nvSpPr>
        <p:spPr>
          <a:xfrm>
            <a:off x="6142089" y="5320891"/>
            <a:ext cx="2916704" cy="3341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800"/>
              </a:lnSpc>
              <a:defRPr sz="170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</a:lstStyle>
          <a:p>
            <a:pPr/>
            <a:r>
              <a:t>Sem II (2025-26), EDA Project</a:t>
            </a:r>
          </a:p>
        </p:txBody>
      </p:sp>
      <p:sp>
        <p:nvSpPr>
          <p:cNvPr id="126" name="Text 6"/>
          <p:cNvSpPr txBox="1"/>
          <p:nvPr/>
        </p:nvSpPr>
        <p:spPr>
          <a:xfrm>
            <a:off x="6142089" y="5715823"/>
            <a:ext cx="7746728" cy="3341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800"/>
              </a:lnSpc>
              <a:defRPr sz="170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</a:lstStyle>
          <a:p>
            <a:pPr/>
            <a:r>
              <a:t>Contributors: Tannishtha Gupta (25070123049), Tanmay Agarwal (25070123158)</a:t>
            </a:r>
          </a:p>
        </p:txBody>
      </p:sp>
      <p:sp>
        <p:nvSpPr>
          <p:cNvPr id="127" name="Rectangle 9"/>
          <p:cNvSpPr/>
          <p:nvPr/>
        </p:nvSpPr>
        <p:spPr>
          <a:xfrm>
            <a:off x="12653909" y="7670799"/>
            <a:ext cx="1896534" cy="50800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miter/>
          </a:ln>
        </p:spPr>
        <p:txBody>
          <a:bodyPr lIns="45719" rIns="45719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  <a:ln w="12700">
            <a:miter lim="400000"/>
          </a:ln>
        </p:spPr>
      </p:pic>
      <p:sp>
        <p:nvSpPr>
          <p:cNvPr id="130" name="Text 0"/>
          <p:cNvSpPr txBox="1"/>
          <p:nvPr/>
        </p:nvSpPr>
        <p:spPr>
          <a:xfrm>
            <a:off x="6131481" y="1289565"/>
            <a:ext cx="6161460" cy="5623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4500"/>
              </a:lnSpc>
              <a:defRPr sz="3600">
                <a:solidFill>
                  <a:srgbClr val="373B48"/>
                </a:solidFill>
                <a:latin typeface="Mona Sans Semi Bold"/>
                <a:ea typeface="Mona Sans Semi Bold"/>
                <a:cs typeface="Mona Sans Semi Bold"/>
                <a:sym typeface="Mona Sans Semi Bold"/>
              </a:defRPr>
            </a:lvl1pPr>
          </a:lstStyle>
          <a:p>
            <a:pPr/>
            <a:r>
              <a:t>Project Overview &amp; Objectives</a:t>
            </a:r>
          </a:p>
        </p:txBody>
      </p:sp>
      <p:sp>
        <p:nvSpPr>
          <p:cNvPr id="131" name="Text 1"/>
          <p:cNvSpPr txBox="1"/>
          <p:nvPr/>
        </p:nvSpPr>
        <p:spPr>
          <a:xfrm>
            <a:off x="6131481" y="2090141"/>
            <a:ext cx="7853840" cy="5209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100"/>
              </a:lnSpc>
              <a:defRPr sz="140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</a:lstStyle>
          <a:p>
            <a:pPr/>
            <a:r>
              <a:t>How do students navigate Pune — and where does the system fail them? This project digs into real commute data to surface actionable insights.</a:t>
            </a:r>
          </a:p>
        </p:txBody>
      </p:sp>
      <p:sp>
        <p:nvSpPr>
          <p:cNvPr id="132" name="Shape 2"/>
          <p:cNvSpPr/>
          <p:nvPr/>
        </p:nvSpPr>
        <p:spPr>
          <a:xfrm>
            <a:off x="6131481" y="2792968"/>
            <a:ext cx="3852029" cy="2265760"/>
          </a:xfrm>
          <a:prstGeom prst="roundRect">
            <a:avLst>
              <a:gd name="adj" fmla="val 3417"/>
            </a:avLst>
          </a:prstGeom>
          <a:solidFill>
            <a:srgbClr val="E2E4E9"/>
          </a:solidFill>
          <a:ln w="7620">
            <a:solidFill>
              <a:srgbClr val="C8CAC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3" name="Shape 3"/>
          <p:cNvSpPr/>
          <p:nvPr/>
        </p:nvSpPr>
        <p:spPr>
          <a:xfrm>
            <a:off x="6323408" y="2984897"/>
            <a:ext cx="552927" cy="552927"/>
          </a:xfrm>
          <a:prstGeom prst="roundRect">
            <a:avLst>
              <a:gd name="adj" fmla="val 50000"/>
            </a:avLst>
          </a:prstGeom>
          <a:solidFill>
            <a:srgbClr val="373B4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4" name="Text 4"/>
          <p:cNvSpPr txBox="1"/>
          <p:nvPr/>
        </p:nvSpPr>
        <p:spPr>
          <a:xfrm>
            <a:off x="6323408" y="3687603"/>
            <a:ext cx="952998" cy="2760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200"/>
              </a:lnSpc>
              <a:defRPr>
                <a:solidFill>
                  <a:srgbClr val="52586B"/>
                </a:solidFill>
                <a:latin typeface="Mona Sans Semi Bold"/>
                <a:ea typeface="Mona Sans Semi Bold"/>
                <a:cs typeface="Mona Sans Semi Bold"/>
                <a:sym typeface="Mona Sans Semi Bold"/>
              </a:defRPr>
            </a:lvl1pPr>
          </a:lstStyle>
          <a:p>
            <a:pPr/>
            <a:r>
              <a:t>The Goal</a:t>
            </a:r>
          </a:p>
        </p:txBody>
      </p:sp>
      <p:sp>
        <p:nvSpPr>
          <p:cNvPr id="135" name="Text 5"/>
          <p:cNvSpPr txBox="1"/>
          <p:nvPr/>
        </p:nvSpPr>
        <p:spPr>
          <a:xfrm>
            <a:off x="6323408" y="4065270"/>
            <a:ext cx="3468174" cy="7876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100"/>
              </a:lnSpc>
              <a:defRPr sz="140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</a:lstStyle>
          <a:p>
            <a:pPr/>
            <a:r>
              <a:t>Identify the most efficient transport modes and major pain points in student commutes across Pune.</a:t>
            </a:r>
          </a:p>
        </p:txBody>
      </p:sp>
      <p:sp>
        <p:nvSpPr>
          <p:cNvPr id="136" name="Shape 6"/>
          <p:cNvSpPr/>
          <p:nvPr/>
        </p:nvSpPr>
        <p:spPr>
          <a:xfrm>
            <a:off x="10133290" y="2792968"/>
            <a:ext cx="3852029" cy="2265760"/>
          </a:xfrm>
          <a:prstGeom prst="roundRect">
            <a:avLst>
              <a:gd name="adj" fmla="val 3417"/>
            </a:avLst>
          </a:prstGeom>
          <a:solidFill>
            <a:srgbClr val="E2E4E9"/>
          </a:solidFill>
          <a:ln w="7620">
            <a:solidFill>
              <a:srgbClr val="C8CAC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7" name="Shape 7"/>
          <p:cNvSpPr/>
          <p:nvPr/>
        </p:nvSpPr>
        <p:spPr>
          <a:xfrm>
            <a:off x="10325219" y="2984897"/>
            <a:ext cx="552927" cy="552927"/>
          </a:xfrm>
          <a:prstGeom prst="roundRect">
            <a:avLst>
              <a:gd name="adj" fmla="val 50000"/>
            </a:avLst>
          </a:prstGeom>
          <a:solidFill>
            <a:srgbClr val="373B4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8" name="Text 8"/>
          <p:cNvSpPr txBox="1"/>
          <p:nvPr/>
        </p:nvSpPr>
        <p:spPr>
          <a:xfrm>
            <a:off x="10325219" y="3687603"/>
            <a:ext cx="952997" cy="2760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200"/>
              </a:lnSpc>
              <a:defRPr>
                <a:solidFill>
                  <a:srgbClr val="52586B"/>
                </a:solidFill>
                <a:latin typeface="Mona Sans Semi Bold"/>
                <a:ea typeface="Mona Sans Semi Bold"/>
                <a:cs typeface="Mona Sans Semi Bold"/>
                <a:sym typeface="Mona Sans Semi Bold"/>
              </a:defRPr>
            </a:lvl1pPr>
          </a:lstStyle>
          <a:p>
            <a:pPr/>
            <a:r>
              <a:t>The Data</a:t>
            </a:r>
          </a:p>
        </p:txBody>
      </p:sp>
      <p:sp>
        <p:nvSpPr>
          <p:cNvPr id="139" name="Text 9"/>
          <p:cNvSpPr txBox="1"/>
          <p:nvPr/>
        </p:nvSpPr>
        <p:spPr>
          <a:xfrm>
            <a:off x="10325219" y="4065270"/>
            <a:ext cx="3468173" cy="7876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100"/>
              </a:lnSpc>
              <a:defRPr sz="140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</a:lstStyle>
          <a:p>
            <a:pPr/>
            <a:r>
              <a:t>724 real survey responses collected via Google Forms — capturing authentic, ground-level travel behavior.</a:t>
            </a:r>
          </a:p>
        </p:txBody>
      </p:sp>
      <p:sp>
        <p:nvSpPr>
          <p:cNvPr id="140" name="Shape 10"/>
          <p:cNvSpPr/>
          <p:nvPr/>
        </p:nvSpPr>
        <p:spPr>
          <a:xfrm>
            <a:off x="6131481" y="5208508"/>
            <a:ext cx="7853840" cy="1731407"/>
          </a:xfrm>
          <a:prstGeom prst="roundRect">
            <a:avLst>
              <a:gd name="adj" fmla="val 4471"/>
            </a:avLst>
          </a:prstGeom>
          <a:solidFill>
            <a:srgbClr val="E2E4E9"/>
          </a:solidFill>
          <a:ln w="7620">
            <a:solidFill>
              <a:srgbClr val="C8CAC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1" name="Shape 11"/>
          <p:cNvSpPr/>
          <p:nvPr/>
        </p:nvSpPr>
        <p:spPr>
          <a:xfrm>
            <a:off x="6323408" y="5400437"/>
            <a:ext cx="552927" cy="552927"/>
          </a:xfrm>
          <a:prstGeom prst="roundRect">
            <a:avLst>
              <a:gd name="adj" fmla="val 50000"/>
            </a:avLst>
          </a:prstGeom>
          <a:solidFill>
            <a:srgbClr val="373B4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2" name="Text 12"/>
          <p:cNvSpPr txBox="1"/>
          <p:nvPr/>
        </p:nvSpPr>
        <p:spPr>
          <a:xfrm>
            <a:off x="6323408" y="6103144"/>
            <a:ext cx="1651634" cy="2760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200"/>
              </a:lnSpc>
              <a:defRPr>
                <a:solidFill>
                  <a:srgbClr val="52586B"/>
                </a:solidFill>
                <a:latin typeface="Mona Sans Semi Bold"/>
                <a:ea typeface="Mona Sans Semi Bold"/>
                <a:cs typeface="Mona Sans Semi Bold"/>
                <a:sym typeface="Mona Sans Semi Bold"/>
              </a:defRPr>
            </a:lvl1pPr>
          </a:lstStyle>
          <a:p>
            <a:pPr/>
            <a:r>
              <a:t>Key Parameters</a:t>
            </a:r>
          </a:p>
        </p:txBody>
      </p:sp>
      <p:sp>
        <p:nvSpPr>
          <p:cNvPr id="143" name="Text 13"/>
          <p:cNvSpPr txBox="1"/>
          <p:nvPr/>
        </p:nvSpPr>
        <p:spPr>
          <a:xfrm>
            <a:off x="6323408" y="6480809"/>
            <a:ext cx="7101782" cy="2542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100"/>
              </a:lnSpc>
              <a:defRPr sz="140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</a:lstStyle>
          <a:p>
            <a:pPr/>
            <a:r>
              <a:t>Travel time, one-way cost, starting points, destinations, and satisfaction levels (1–5 scale).</a:t>
            </a:r>
          </a:p>
        </p:txBody>
      </p:sp>
      <p:sp>
        <p:nvSpPr>
          <p:cNvPr id="144" name="Rectangle 19"/>
          <p:cNvSpPr/>
          <p:nvPr/>
        </p:nvSpPr>
        <p:spPr>
          <a:xfrm>
            <a:off x="12653909" y="7620000"/>
            <a:ext cx="1896534" cy="50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miter/>
          </a:ln>
        </p:spPr>
        <p:txBody>
          <a:bodyPr lIns="45719" rIns="45719" anchor="ctr"/>
          <a:lstStyle/>
          <a:p>
            <a:pPr algn="ctr"/>
          </a:p>
        </p:txBody>
      </p:sp>
      <p:pic>
        <p:nvPicPr>
          <p:cNvPr id="145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244271" y="2905760"/>
            <a:ext cx="711201" cy="711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46" name="pasted-movie.png" descr="pasted-movie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0246082" y="2905760"/>
            <a:ext cx="711201" cy="711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47" name="pasted-movie.png" descr="pasted-movie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6394131" y="5471159"/>
            <a:ext cx="411481" cy="41148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Text 0"/>
          <p:cNvSpPr txBox="1"/>
          <p:nvPr/>
        </p:nvSpPr>
        <p:spPr>
          <a:xfrm>
            <a:off x="848797" y="1230272"/>
            <a:ext cx="4002262" cy="572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4600"/>
              </a:lnSpc>
              <a:defRPr sz="3600">
                <a:solidFill>
                  <a:srgbClr val="373B48"/>
                </a:solidFill>
                <a:latin typeface="Mona Sans Semi Bold"/>
                <a:ea typeface="Mona Sans Semi Bold"/>
                <a:cs typeface="Mona Sans Semi Bold"/>
                <a:sym typeface="Mona Sans Semi Bold"/>
              </a:defRPr>
            </a:lvl1pPr>
          </a:lstStyle>
          <a:p>
            <a:pPr/>
            <a:r>
              <a:t>Dataset Description</a:t>
            </a:r>
          </a:p>
        </p:txBody>
      </p:sp>
      <p:pic>
        <p:nvPicPr>
          <p:cNvPr id="150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8797" y="2222539"/>
            <a:ext cx="8246269" cy="4602481"/>
          </a:xfrm>
          <a:prstGeom prst="rect">
            <a:avLst/>
          </a:prstGeom>
          <a:ln w="12700">
            <a:miter lim="400000"/>
          </a:ln>
        </p:spPr>
      </p:pic>
      <p:sp>
        <p:nvSpPr>
          <p:cNvPr id="151" name="Text 1"/>
          <p:cNvSpPr txBox="1"/>
          <p:nvPr/>
        </p:nvSpPr>
        <p:spPr>
          <a:xfrm>
            <a:off x="9559884" y="2365057"/>
            <a:ext cx="940161" cy="2862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300"/>
              </a:lnSpc>
              <a:defRPr>
                <a:solidFill>
                  <a:srgbClr val="373B48"/>
                </a:solidFill>
                <a:latin typeface="Mona Sans Semi Bold"/>
                <a:ea typeface="Mona Sans Semi Bold"/>
                <a:cs typeface="Mona Sans Semi Bold"/>
                <a:sym typeface="Mona Sans Semi Bold"/>
              </a:defRPr>
            </a:lvl1pPr>
          </a:lstStyle>
          <a:p>
            <a:pPr/>
            <a:r>
              <a:t>Structure</a:t>
            </a:r>
          </a:p>
        </p:txBody>
      </p:sp>
      <p:sp>
        <p:nvSpPr>
          <p:cNvPr id="152" name="Text 2"/>
          <p:cNvSpPr txBox="1"/>
          <p:nvPr/>
        </p:nvSpPr>
        <p:spPr>
          <a:xfrm>
            <a:off x="9559884" y="2812732"/>
            <a:ext cx="4229220" cy="5209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100"/>
              </a:lnSpc>
              <a:defRPr b="1" sz="140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defRPr>
            </a:pPr>
            <a:r>
              <a:t>724 rows × 10 columns</a:t>
            </a:r>
            <a:r>
              <a:rPr b="0"/>
              <a:t> — each row represents one student's commute profile.</a:t>
            </a:r>
          </a:p>
        </p:txBody>
      </p:sp>
      <p:sp>
        <p:nvSpPr>
          <p:cNvPr id="153" name="Text 3"/>
          <p:cNvSpPr txBox="1"/>
          <p:nvPr/>
        </p:nvSpPr>
        <p:spPr>
          <a:xfrm>
            <a:off x="9559884" y="3514962"/>
            <a:ext cx="1372134" cy="2862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300"/>
              </a:lnSpc>
              <a:defRPr>
                <a:solidFill>
                  <a:srgbClr val="373B48"/>
                </a:solidFill>
                <a:latin typeface="Mona Sans Semi Bold"/>
                <a:ea typeface="Mona Sans Semi Bold"/>
                <a:cs typeface="Mona Sans Semi Bold"/>
                <a:sym typeface="Mona Sans Semi Bold"/>
              </a:defRPr>
            </a:lvl1pPr>
          </a:lstStyle>
          <a:p>
            <a:pPr/>
            <a:r>
              <a:t>Key Columns</a:t>
            </a:r>
          </a:p>
        </p:txBody>
      </p:sp>
      <p:sp>
        <p:nvSpPr>
          <p:cNvPr id="154" name="Text 4"/>
          <p:cNvSpPr txBox="1"/>
          <p:nvPr/>
        </p:nvSpPr>
        <p:spPr>
          <a:xfrm>
            <a:off x="9559884" y="3962637"/>
            <a:ext cx="4229220" cy="13239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lnSpc>
                <a:spcPts val="2100"/>
              </a:lnSpc>
              <a:buSzPct val="100000"/>
              <a:buChar char="•"/>
              <a:defRPr sz="1400">
                <a:solidFill>
                  <a:srgbClr val="52586B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Primary_Mode</a:t>
            </a:r>
            <a:r>
              <a:rPr>
                <a:latin typeface="Funnel Sans"/>
                <a:ea typeface="Funnel Sans"/>
                <a:cs typeface="Funnel Sans"/>
                <a:sym typeface="Funnel Sans"/>
              </a:rPr>
              <a:t> — transport type used</a:t>
            </a:r>
          </a:p>
          <a:p>
            <a:pPr marL="342900" indent="-342900">
              <a:lnSpc>
                <a:spcPts val="2100"/>
              </a:lnSpc>
              <a:buSzPct val="100000"/>
              <a:buChar char="•"/>
              <a:defRPr sz="1400">
                <a:solidFill>
                  <a:srgbClr val="52586B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Travel_Time_min</a:t>
            </a:r>
            <a:r>
              <a:rPr>
                <a:latin typeface="Funnel Sans"/>
                <a:ea typeface="Funnel Sans"/>
                <a:cs typeface="Funnel Sans"/>
                <a:sym typeface="Funnel Sans"/>
              </a:rPr>
              <a:t> — one-way duration</a:t>
            </a:r>
          </a:p>
          <a:p>
            <a:pPr marL="342900" indent="-342900">
              <a:lnSpc>
                <a:spcPts val="2100"/>
              </a:lnSpc>
              <a:buSzPct val="100000"/>
              <a:buChar char="•"/>
              <a:defRPr sz="1400">
                <a:solidFill>
                  <a:srgbClr val="52586B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One_Way_Cost_INR</a:t>
            </a:r>
            <a:r>
              <a:rPr>
                <a:latin typeface="Funnel Sans"/>
                <a:ea typeface="Funnel Sans"/>
                <a:cs typeface="Funnel Sans"/>
                <a:sym typeface="Funnel Sans"/>
              </a:rPr>
              <a:t> — daily expense</a:t>
            </a:r>
          </a:p>
          <a:p>
            <a:pPr marL="342900" indent="-342900">
              <a:lnSpc>
                <a:spcPts val="2100"/>
              </a:lnSpc>
              <a:buSzPct val="100000"/>
              <a:buChar char="•"/>
              <a:defRPr sz="1400">
                <a:solidFill>
                  <a:srgbClr val="52586B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Delay_Points</a:t>
            </a:r>
            <a:r>
              <a:rPr>
                <a:latin typeface="Funnel Sans"/>
                <a:ea typeface="Funnel Sans"/>
                <a:cs typeface="Funnel Sans"/>
                <a:sym typeface="Funnel Sans"/>
              </a:rPr>
              <a:t> — reported bottlenecks</a:t>
            </a:r>
          </a:p>
          <a:p>
            <a:pPr marL="342900" indent="-342900">
              <a:lnSpc>
                <a:spcPts val="2100"/>
              </a:lnSpc>
              <a:buSzPct val="100000"/>
              <a:buChar char="•"/>
              <a:defRPr sz="1400">
                <a:solidFill>
                  <a:srgbClr val="52586B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Satisfaction</a:t>
            </a:r>
            <a:r>
              <a:rPr>
                <a:latin typeface="Funnel Sans"/>
                <a:ea typeface="Funnel Sans"/>
                <a:cs typeface="Funnel Sans"/>
                <a:sym typeface="Funnel Sans"/>
              </a:rPr>
              <a:t> — self-rated score (1–5)</a:t>
            </a:r>
          </a:p>
        </p:txBody>
      </p:sp>
      <p:sp>
        <p:nvSpPr>
          <p:cNvPr id="155" name="Text 5"/>
          <p:cNvSpPr txBox="1"/>
          <p:nvPr/>
        </p:nvSpPr>
        <p:spPr>
          <a:xfrm>
            <a:off x="9559884" y="5702737"/>
            <a:ext cx="1906241" cy="2862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300"/>
              </a:lnSpc>
              <a:defRPr>
                <a:solidFill>
                  <a:srgbClr val="373B48"/>
                </a:solidFill>
                <a:latin typeface="Mona Sans Semi Bold"/>
                <a:ea typeface="Mona Sans Semi Bold"/>
                <a:cs typeface="Mona Sans Semi Bold"/>
                <a:sym typeface="Mona Sans Semi Bold"/>
              </a:defRPr>
            </a:lvl1pPr>
          </a:lstStyle>
          <a:p>
            <a:pPr/>
            <a:r>
              <a:t>Geographic Scope</a:t>
            </a:r>
          </a:p>
        </p:txBody>
      </p:sp>
      <p:sp>
        <p:nvSpPr>
          <p:cNvPr id="156" name="Text 6"/>
          <p:cNvSpPr txBox="1"/>
          <p:nvPr/>
        </p:nvSpPr>
        <p:spPr>
          <a:xfrm>
            <a:off x="9559884" y="6150412"/>
            <a:ext cx="4229220" cy="5209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100"/>
              </a:lnSpc>
              <a:defRPr sz="140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</a:lstStyle>
          <a:p>
            <a:pPr/>
            <a:r>
              <a:t>Origins: Kothrud, Baner, SIT Lavale. Destinations: Hinjewadi, Pune Station, and more.</a:t>
            </a:r>
          </a:p>
        </p:txBody>
      </p:sp>
      <p:sp>
        <p:nvSpPr>
          <p:cNvPr id="157" name="Rectangle 9"/>
          <p:cNvSpPr/>
          <p:nvPr/>
        </p:nvSpPr>
        <p:spPr>
          <a:xfrm>
            <a:off x="12653909" y="7620000"/>
            <a:ext cx="1896534" cy="50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miter/>
          </a:ln>
        </p:spPr>
        <p:txBody>
          <a:bodyPr lIns="45719" rIns="45719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rcRect l="0" t="0" r="0" b="63157"/>
          <a:stretch>
            <a:fillRect/>
          </a:stretch>
        </p:blipFill>
        <p:spPr>
          <a:xfrm>
            <a:off x="0" y="1528170"/>
            <a:ext cx="4686300" cy="5173259"/>
          </a:xfrm>
          <a:prstGeom prst="rect">
            <a:avLst/>
          </a:prstGeom>
          <a:ln w="12700">
            <a:miter lim="400000"/>
          </a:ln>
        </p:spPr>
      </p:pic>
      <p:pic>
        <p:nvPicPr>
          <p:cNvPr id="160" name="Picture 6" descr="Picture 6"/>
          <p:cNvPicPr>
            <a:picLocks noChangeAspect="1"/>
          </p:cNvPicPr>
          <p:nvPr/>
        </p:nvPicPr>
        <p:blipFill>
          <a:blip r:embed="rId2">
            <a:extLst/>
          </a:blip>
          <a:srcRect l="0" t="61342" r="0" b="0"/>
          <a:stretch>
            <a:fillRect/>
          </a:stretch>
        </p:blipFill>
        <p:spPr>
          <a:xfrm>
            <a:off x="9943606" y="1400502"/>
            <a:ext cx="4686794" cy="5428593"/>
          </a:xfrm>
          <a:prstGeom prst="rect">
            <a:avLst/>
          </a:prstGeom>
          <a:ln w="12700">
            <a:miter lim="400000"/>
          </a:ln>
        </p:spPr>
      </p:pic>
      <p:pic>
        <p:nvPicPr>
          <p:cNvPr id="161" name="Picture 7" descr="Picture 7"/>
          <p:cNvPicPr>
            <a:picLocks noChangeAspect="1"/>
          </p:cNvPicPr>
          <p:nvPr/>
        </p:nvPicPr>
        <p:blipFill>
          <a:blip r:embed="rId2">
            <a:extLst/>
          </a:blip>
          <a:srcRect l="0" t="36351" r="0" b="37731"/>
          <a:stretch>
            <a:fillRect/>
          </a:stretch>
        </p:blipFill>
        <p:spPr>
          <a:xfrm>
            <a:off x="4616744" y="2019299"/>
            <a:ext cx="5396910" cy="4191001"/>
          </a:xfrm>
          <a:prstGeom prst="rect">
            <a:avLst/>
          </a:prstGeom>
          <a:ln w="12700">
            <a:miter lim="400000"/>
          </a:ln>
        </p:spPr>
      </p:pic>
      <p:sp>
        <p:nvSpPr>
          <p:cNvPr id="162" name="Rectangle 8"/>
          <p:cNvSpPr/>
          <p:nvPr/>
        </p:nvSpPr>
        <p:spPr>
          <a:xfrm>
            <a:off x="12653909" y="7620000"/>
            <a:ext cx="1896534" cy="50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miter/>
          </a:ln>
        </p:spPr>
        <p:txBody>
          <a:bodyPr lIns="45719" rIns="45719" anchor="ctr"/>
          <a:lstStyle/>
          <a:p>
            <a:pPr algn="ctr"/>
          </a:p>
        </p:txBody>
      </p:sp>
      <p:sp>
        <p:nvSpPr>
          <p:cNvPr id="163" name="Our Google Forms Layout and Snippets"/>
          <p:cNvSpPr txBox="1"/>
          <p:nvPr/>
        </p:nvSpPr>
        <p:spPr>
          <a:xfrm>
            <a:off x="5708424" y="961497"/>
            <a:ext cx="3712405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Our Google Forms Layout and Snippets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Text 0"/>
          <p:cNvSpPr txBox="1"/>
          <p:nvPr/>
        </p:nvSpPr>
        <p:spPr>
          <a:xfrm>
            <a:off x="742950" y="710683"/>
            <a:ext cx="7277584" cy="648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5200"/>
              </a:lnSpc>
              <a:defRPr sz="4100">
                <a:solidFill>
                  <a:srgbClr val="373B48"/>
                </a:solidFill>
                <a:latin typeface="Mona Sans Semi Bold"/>
                <a:ea typeface="Mona Sans Semi Bold"/>
                <a:cs typeface="Mona Sans Semi Bold"/>
                <a:sym typeface="Mona Sans Semi Bold"/>
              </a:defRPr>
            </a:lvl1pPr>
          </a:lstStyle>
          <a:p>
            <a:pPr/>
            <a:r>
              <a:t>Data Cleaning &amp; Preprocessing</a:t>
            </a:r>
          </a:p>
        </p:txBody>
      </p:sp>
      <p:sp>
        <p:nvSpPr>
          <p:cNvPr id="166" name="Shape 1"/>
          <p:cNvSpPr/>
          <p:nvPr/>
        </p:nvSpPr>
        <p:spPr>
          <a:xfrm>
            <a:off x="742950" y="1771293"/>
            <a:ext cx="1652587" cy="390050"/>
          </a:xfrm>
          <a:prstGeom prst="roundRect">
            <a:avLst>
              <a:gd name="adj" fmla="val 18286"/>
            </a:avLst>
          </a:prstGeom>
          <a:solidFill>
            <a:srgbClr val="E2E4E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7" name="Text 2"/>
          <p:cNvSpPr txBox="1"/>
          <p:nvPr/>
        </p:nvSpPr>
        <p:spPr>
          <a:xfrm>
            <a:off x="870227" y="1834871"/>
            <a:ext cx="1465388" cy="2411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000"/>
              </a:lnSpc>
              <a:defRPr sz="130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</a:lstStyle>
          <a:p>
            <a:pPr/>
            <a:r>
              <a:t>TECHNICAL SLIDE</a:t>
            </a:r>
          </a:p>
        </p:txBody>
      </p:sp>
      <p:pic>
        <p:nvPicPr>
          <p:cNvPr id="168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455075" y="2384822"/>
            <a:ext cx="7720133" cy="4581883"/>
          </a:xfrm>
          <a:prstGeom prst="rect">
            <a:avLst/>
          </a:prstGeom>
          <a:ln w="12700">
            <a:miter lim="400000"/>
          </a:ln>
        </p:spPr>
      </p:pic>
      <p:sp>
        <p:nvSpPr>
          <p:cNvPr id="169" name="Image 1"/>
          <p:cNvSpPr/>
          <p:nvPr/>
        </p:nvSpPr>
        <p:spPr>
          <a:xfrm>
            <a:off x="9413916" y="3504710"/>
            <a:ext cx="657204" cy="657203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170" name="Text 3"/>
          <p:cNvSpPr txBox="1"/>
          <p:nvPr/>
        </p:nvSpPr>
        <p:spPr>
          <a:xfrm>
            <a:off x="8828389" y="5719071"/>
            <a:ext cx="1919030" cy="7301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2900"/>
              </a:lnSpc>
              <a:defRPr sz="2300">
                <a:solidFill>
                  <a:srgbClr val="52586B"/>
                </a:solidFill>
                <a:latin typeface="Mona Sans Semi Bold"/>
                <a:ea typeface="Mona Sans Semi Bold"/>
                <a:cs typeface="Mona Sans Semi Bold"/>
                <a:sym typeface="Mona Sans Semi Bold"/>
              </a:defRPr>
            </a:lvl1pPr>
          </a:lstStyle>
          <a:p>
            <a:pPr/>
            <a:r>
              <a:t>Feature Engineer</a:t>
            </a:r>
          </a:p>
        </p:txBody>
      </p:sp>
      <p:sp>
        <p:nvSpPr>
          <p:cNvPr id="171" name="Image 2"/>
          <p:cNvSpPr/>
          <p:nvPr/>
        </p:nvSpPr>
        <p:spPr>
          <a:xfrm>
            <a:off x="7007938" y="3505941"/>
            <a:ext cx="657204" cy="657204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172" name="Text 4"/>
          <p:cNvSpPr txBox="1"/>
          <p:nvPr/>
        </p:nvSpPr>
        <p:spPr>
          <a:xfrm>
            <a:off x="6409883" y="5719071"/>
            <a:ext cx="1919033" cy="3618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2900"/>
              </a:lnSpc>
              <a:defRPr sz="2300">
                <a:solidFill>
                  <a:srgbClr val="52586B"/>
                </a:solidFill>
                <a:latin typeface="Mona Sans Semi Bold"/>
                <a:ea typeface="Mona Sans Semi Bold"/>
                <a:cs typeface="Mona Sans Semi Bold"/>
                <a:sym typeface="Mona Sans Semi Bold"/>
              </a:defRPr>
            </a:lvl1pPr>
          </a:lstStyle>
          <a:p>
            <a:pPr/>
            <a:r>
              <a:t>Inspect Types</a:t>
            </a:r>
          </a:p>
        </p:txBody>
      </p:sp>
      <p:sp>
        <p:nvSpPr>
          <p:cNvPr id="173" name="Image 3"/>
          <p:cNvSpPr/>
          <p:nvPr/>
        </p:nvSpPr>
        <p:spPr>
          <a:xfrm>
            <a:off x="4589431" y="3505941"/>
            <a:ext cx="657204" cy="657204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174" name="Text 5"/>
          <p:cNvSpPr txBox="1"/>
          <p:nvPr/>
        </p:nvSpPr>
        <p:spPr>
          <a:xfrm>
            <a:off x="3951944" y="5719071"/>
            <a:ext cx="1919033" cy="7301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2900"/>
              </a:lnSpc>
              <a:defRPr sz="2300">
                <a:solidFill>
                  <a:srgbClr val="52586B"/>
                </a:solidFill>
                <a:latin typeface="Mona Sans Semi Bold"/>
                <a:ea typeface="Mona Sans Semi Bold"/>
                <a:cs typeface="Mona Sans Semi Bold"/>
                <a:sym typeface="Mona Sans Semi Bold"/>
              </a:defRPr>
            </a:lvl1pPr>
          </a:lstStyle>
          <a:p>
            <a:pPr/>
            <a:r>
              <a:t>Handle Missing</a:t>
            </a:r>
          </a:p>
        </p:txBody>
      </p:sp>
      <p:sp>
        <p:nvSpPr>
          <p:cNvPr id="175" name="Text 6"/>
          <p:cNvSpPr txBox="1"/>
          <p:nvPr/>
        </p:nvSpPr>
        <p:spPr>
          <a:xfrm>
            <a:off x="742950" y="7190184"/>
            <a:ext cx="12301141" cy="3007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500"/>
              </a:lnSpc>
              <a:defRPr sz="160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</a:lstStyle>
          <a:p>
            <a:pPr/>
            <a:r>
              <a:t>Cleaning the raw survey data ensured analytical integrity — transforming 724 messy responses into a structured, analysis-ready dataset.</a:t>
            </a:r>
          </a:p>
        </p:txBody>
      </p:sp>
      <p:sp>
        <p:nvSpPr>
          <p:cNvPr id="176" name="Rectangle 12"/>
          <p:cNvSpPr/>
          <p:nvPr/>
        </p:nvSpPr>
        <p:spPr>
          <a:xfrm>
            <a:off x="12653909" y="7620000"/>
            <a:ext cx="1896534" cy="50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miter/>
          </a:ln>
        </p:spPr>
        <p:txBody>
          <a:bodyPr lIns="45719" rIns="45719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Text 0"/>
          <p:cNvSpPr txBox="1"/>
          <p:nvPr/>
        </p:nvSpPr>
        <p:spPr>
          <a:xfrm>
            <a:off x="793789" y="999292"/>
            <a:ext cx="5167413" cy="6873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5500"/>
              </a:lnSpc>
              <a:defRPr sz="4400">
                <a:solidFill>
                  <a:srgbClr val="373B48"/>
                </a:solidFill>
                <a:latin typeface="Mona Sans Semi Bold"/>
                <a:ea typeface="Mona Sans Semi Bold"/>
                <a:cs typeface="Mona Sans Semi Bold"/>
                <a:sym typeface="Mona Sans Semi Bold"/>
              </a:defRPr>
            </a:lvl1pPr>
          </a:lstStyle>
          <a:p>
            <a:pPr/>
            <a:r>
              <a:t>Descriptive Statistics</a:t>
            </a:r>
          </a:p>
        </p:txBody>
      </p:sp>
      <p:sp>
        <p:nvSpPr>
          <p:cNvPr id="179" name="Text 1"/>
          <p:cNvSpPr txBox="1"/>
          <p:nvPr/>
        </p:nvSpPr>
        <p:spPr>
          <a:xfrm>
            <a:off x="793790" y="2161699"/>
            <a:ext cx="9201417" cy="334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ts val="2800"/>
              </a:lnSpc>
              <a:defRPr sz="170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defRPr>
            </a:pPr>
            <a:r>
              <a:t>A snapshot of the </a:t>
            </a:r>
            <a:r>
              <a:rPr b="1"/>
              <a:t>average student commute</a:t>
            </a:r>
            <a:r>
              <a:t> in Pune — and the spread that tells the real story.</a:t>
            </a:r>
          </a:p>
        </p:txBody>
      </p:sp>
      <p:sp>
        <p:nvSpPr>
          <p:cNvPr id="180" name="Text 2"/>
          <p:cNvSpPr txBox="1"/>
          <p:nvPr/>
        </p:nvSpPr>
        <p:spPr>
          <a:xfrm>
            <a:off x="2871804" y="2893099"/>
            <a:ext cx="2223580" cy="7586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ts val="5800"/>
              </a:lnSpc>
              <a:defRPr sz="5800">
                <a:solidFill>
                  <a:srgbClr val="52586B"/>
                </a:solidFill>
                <a:latin typeface="Mona Sans Semi Bold"/>
                <a:ea typeface="Mona Sans Semi Bold"/>
                <a:cs typeface="Mona Sans Semi Bold"/>
                <a:sym typeface="Mona Sans Semi Bold"/>
              </a:defRPr>
            </a:lvl1pPr>
          </a:lstStyle>
          <a:p>
            <a:pPr/>
            <a:r>
              <a:t>57 min</a:t>
            </a:r>
          </a:p>
        </p:txBody>
      </p:sp>
      <p:sp>
        <p:nvSpPr>
          <p:cNvPr id="181" name="Text 3"/>
          <p:cNvSpPr txBox="1"/>
          <p:nvPr/>
        </p:nvSpPr>
        <p:spPr>
          <a:xfrm>
            <a:off x="2939051" y="3924894"/>
            <a:ext cx="2088965" cy="3385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ts val="2700"/>
              </a:lnSpc>
              <a:defRPr sz="2200">
                <a:solidFill>
                  <a:srgbClr val="52586B"/>
                </a:solidFill>
                <a:latin typeface="Mona Sans Semi Bold"/>
                <a:ea typeface="Mona Sans Semi Bold"/>
                <a:cs typeface="Mona Sans Semi Bold"/>
                <a:sym typeface="Mona Sans Semi Bold"/>
              </a:defRPr>
            </a:lvl1pPr>
          </a:lstStyle>
          <a:p>
            <a:pPr/>
            <a:r>
              <a:t>Avg. Travel Time</a:t>
            </a:r>
          </a:p>
        </p:txBody>
      </p:sp>
      <p:sp>
        <p:nvSpPr>
          <p:cNvPr id="182" name="Text 4"/>
          <p:cNvSpPr txBox="1"/>
          <p:nvPr/>
        </p:nvSpPr>
        <p:spPr>
          <a:xfrm>
            <a:off x="1175972" y="4415313"/>
            <a:ext cx="5615243" cy="3341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ts val="2800"/>
              </a:lnSpc>
              <a:defRPr sz="170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</a:lstStyle>
          <a:p>
            <a:pPr/>
            <a:r>
              <a:t>SD ≈ 22 min — wide variation across students and modes.</a:t>
            </a:r>
          </a:p>
        </p:txBody>
      </p:sp>
      <p:sp>
        <p:nvSpPr>
          <p:cNvPr id="183" name="Text 5"/>
          <p:cNvSpPr txBox="1"/>
          <p:nvPr/>
        </p:nvSpPr>
        <p:spPr>
          <a:xfrm>
            <a:off x="9834560" y="2893099"/>
            <a:ext cx="1624374" cy="7586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ts val="5800"/>
              </a:lnSpc>
              <a:defRPr sz="5800">
                <a:solidFill>
                  <a:srgbClr val="52586B"/>
                </a:solidFill>
                <a:latin typeface="Mona Sans Semi Bold"/>
                <a:ea typeface="Mona Sans Semi Bold"/>
                <a:cs typeface="Mona Sans Semi Bold"/>
                <a:sym typeface="Mona Sans Semi Bold"/>
              </a:defRPr>
            </a:lvl1pPr>
          </a:lstStyle>
          <a:p>
            <a:pPr/>
            <a:r>
              <a:t>₹127</a:t>
            </a:r>
          </a:p>
        </p:txBody>
      </p:sp>
      <p:sp>
        <p:nvSpPr>
          <p:cNvPr id="184" name="Text 6"/>
          <p:cNvSpPr txBox="1"/>
          <p:nvPr/>
        </p:nvSpPr>
        <p:spPr>
          <a:xfrm>
            <a:off x="9413588" y="3924894"/>
            <a:ext cx="2466318" cy="3385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ts val="2700"/>
              </a:lnSpc>
              <a:defRPr sz="2200">
                <a:solidFill>
                  <a:srgbClr val="52586B"/>
                </a:solidFill>
                <a:latin typeface="Mona Sans Semi Bold"/>
                <a:ea typeface="Mona Sans Semi Bold"/>
                <a:cs typeface="Mona Sans Semi Bold"/>
                <a:sym typeface="Mona Sans Semi Bold"/>
              </a:defRPr>
            </a:lvl1pPr>
          </a:lstStyle>
          <a:p>
            <a:pPr/>
            <a:r>
              <a:t>Avg. One-Way Cost</a:t>
            </a:r>
          </a:p>
        </p:txBody>
      </p:sp>
      <p:sp>
        <p:nvSpPr>
          <p:cNvPr id="185" name="Text 7"/>
          <p:cNvSpPr txBox="1"/>
          <p:nvPr/>
        </p:nvSpPr>
        <p:spPr>
          <a:xfrm>
            <a:off x="8089234" y="4415313"/>
            <a:ext cx="5115026" cy="3341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ts val="2800"/>
              </a:lnSpc>
              <a:defRPr sz="170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</a:lstStyle>
          <a:p>
            <a:pPr/>
            <a:r>
              <a:t>SD ≈ ₹89 — cost varies dramatically by mode choice.</a:t>
            </a:r>
          </a:p>
        </p:txBody>
      </p:sp>
      <p:sp>
        <p:nvSpPr>
          <p:cNvPr id="186" name="Text 8"/>
          <p:cNvSpPr txBox="1"/>
          <p:nvPr/>
        </p:nvSpPr>
        <p:spPr>
          <a:xfrm>
            <a:off x="3362750" y="5345191"/>
            <a:ext cx="1241687" cy="7586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ts val="5800"/>
              </a:lnSpc>
              <a:defRPr sz="5800">
                <a:solidFill>
                  <a:srgbClr val="52586B"/>
                </a:solidFill>
                <a:latin typeface="Mona Sans Semi Bold"/>
                <a:ea typeface="Mona Sans Semi Bold"/>
                <a:cs typeface="Mona Sans Semi Bold"/>
                <a:sym typeface="Mona Sans Semi Bold"/>
              </a:defRPr>
            </a:lvl1pPr>
          </a:lstStyle>
          <a:p>
            <a:pPr/>
            <a:r>
              <a:t>724</a:t>
            </a:r>
          </a:p>
        </p:txBody>
      </p:sp>
      <p:sp>
        <p:nvSpPr>
          <p:cNvPr id="187" name="Text 9"/>
          <p:cNvSpPr txBox="1"/>
          <p:nvPr/>
        </p:nvSpPr>
        <p:spPr>
          <a:xfrm>
            <a:off x="2804672" y="6376987"/>
            <a:ext cx="2357723" cy="338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ts val="2700"/>
              </a:lnSpc>
              <a:defRPr sz="2200">
                <a:solidFill>
                  <a:srgbClr val="52586B"/>
                </a:solidFill>
                <a:latin typeface="Mona Sans Semi Bold"/>
                <a:ea typeface="Mona Sans Semi Bold"/>
                <a:cs typeface="Mona Sans Semi Bold"/>
                <a:sym typeface="Mona Sans Semi Bold"/>
              </a:defRPr>
            </a:lvl1pPr>
          </a:lstStyle>
          <a:p>
            <a:pPr/>
            <a:r>
              <a:t>Survey Responses</a:t>
            </a:r>
          </a:p>
        </p:txBody>
      </p:sp>
      <p:sp>
        <p:nvSpPr>
          <p:cNvPr id="188" name="Text 10"/>
          <p:cNvSpPr txBox="1"/>
          <p:nvPr/>
        </p:nvSpPr>
        <p:spPr>
          <a:xfrm>
            <a:off x="1061434" y="6867405"/>
            <a:ext cx="5844320" cy="3341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ts val="2800"/>
              </a:lnSpc>
              <a:defRPr sz="170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</a:lstStyle>
          <a:p>
            <a:pPr/>
            <a:r>
              <a:t>Collected via Google Forms — real students, real commutes.</a:t>
            </a:r>
          </a:p>
        </p:txBody>
      </p:sp>
      <p:sp>
        <p:nvSpPr>
          <p:cNvPr id="189" name="Text 11"/>
          <p:cNvSpPr txBox="1"/>
          <p:nvPr/>
        </p:nvSpPr>
        <p:spPr>
          <a:xfrm>
            <a:off x="10230735" y="5345191"/>
            <a:ext cx="832024" cy="7586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ts val="5800"/>
              </a:lnSpc>
              <a:defRPr sz="5800">
                <a:solidFill>
                  <a:srgbClr val="52586B"/>
                </a:solidFill>
                <a:latin typeface="Mona Sans Semi Bold"/>
                <a:ea typeface="Mona Sans Semi Bold"/>
                <a:cs typeface="Mona Sans Semi Bold"/>
                <a:sym typeface="Mona Sans Semi Bold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190" name="Text 12"/>
          <p:cNvSpPr txBox="1"/>
          <p:nvPr/>
        </p:nvSpPr>
        <p:spPr>
          <a:xfrm>
            <a:off x="9568908" y="6376987"/>
            <a:ext cx="2155678" cy="338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ts val="2700"/>
              </a:lnSpc>
              <a:defRPr sz="2200">
                <a:solidFill>
                  <a:srgbClr val="52586B"/>
                </a:solidFill>
                <a:latin typeface="Mona Sans Semi Bold"/>
                <a:ea typeface="Mona Sans Semi Bold"/>
                <a:cs typeface="Mona Sans Semi Bold"/>
                <a:sym typeface="Mona Sans Semi Bold"/>
              </a:defRPr>
            </a:lvl1pPr>
          </a:lstStyle>
          <a:p>
            <a:pPr/>
            <a:r>
              <a:t>Dataset Columns</a:t>
            </a:r>
          </a:p>
        </p:txBody>
      </p:sp>
      <p:sp>
        <p:nvSpPr>
          <p:cNvPr id="191" name="Text 13"/>
          <p:cNvSpPr txBox="1"/>
          <p:nvPr/>
        </p:nvSpPr>
        <p:spPr>
          <a:xfrm>
            <a:off x="7804232" y="6867405"/>
            <a:ext cx="5685030" cy="3341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ts val="2800"/>
              </a:lnSpc>
              <a:defRPr sz="170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</a:lstStyle>
          <a:p>
            <a:pPr/>
            <a:r>
              <a:t>Covering time, cost, mode, location, delay, and satisfaction.</a:t>
            </a:r>
          </a:p>
        </p:txBody>
      </p:sp>
      <p:sp>
        <p:nvSpPr>
          <p:cNvPr id="192" name="Rectangle 15"/>
          <p:cNvSpPr/>
          <p:nvPr/>
        </p:nvSpPr>
        <p:spPr>
          <a:xfrm>
            <a:off x="12653909" y="7620000"/>
            <a:ext cx="1896534" cy="50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miter/>
          </a:ln>
        </p:spPr>
        <p:txBody>
          <a:bodyPr lIns="45719" rIns="45719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Text 0"/>
          <p:cNvSpPr txBox="1"/>
          <p:nvPr/>
        </p:nvSpPr>
        <p:spPr>
          <a:xfrm>
            <a:off x="743782" y="1422559"/>
            <a:ext cx="8058889" cy="648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5200"/>
              </a:lnSpc>
              <a:defRPr sz="4100">
                <a:solidFill>
                  <a:srgbClr val="373B48"/>
                </a:solidFill>
                <a:latin typeface="Mona Sans Semi Bold"/>
                <a:ea typeface="Mona Sans Semi Bold"/>
                <a:cs typeface="Mona Sans Semi Bold"/>
                <a:sym typeface="Mona Sans Semi Bold"/>
              </a:defRPr>
            </a:lvl1pPr>
          </a:lstStyle>
          <a:p>
            <a:pPr/>
            <a:r>
              <a:t>Key Findings — Mode of Transport</a:t>
            </a:r>
          </a:p>
        </p:txBody>
      </p:sp>
      <p:pic>
        <p:nvPicPr>
          <p:cNvPr id="195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43782" y="2609374"/>
            <a:ext cx="6309361" cy="3586374"/>
          </a:xfrm>
          <a:prstGeom prst="rect">
            <a:avLst/>
          </a:prstGeom>
          <a:ln w="12700">
            <a:miter lim="400000"/>
          </a:ln>
        </p:spPr>
      </p:pic>
      <p:sp>
        <p:nvSpPr>
          <p:cNvPr id="196" name="Text 1"/>
          <p:cNvSpPr txBox="1"/>
          <p:nvPr/>
        </p:nvSpPr>
        <p:spPr>
          <a:xfrm>
            <a:off x="6183519" y="2900528"/>
            <a:ext cx="231024" cy="1394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0480" tIns="30480" rIns="30480" bIns="30480">
            <a:spAutoFit/>
          </a:bodyPr>
          <a:lstStyle>
            <a:lvl1pPr>
              <a:lnSpc>
                <a:spcPts val="600"/>
              </a:lnSpc>
              <a:defRPr sz="600">
                <a:solidFill>
                  <a:srgbClr val="FFFFFF"/>
                </a:solidFill>
                <a:latin typeface="-apple-system, BlinkMacSystemFont, Segoe UI, Roboto, Helvetica Neue, Arial, sans-serif Medium"/>
                <a:ea typeface="-apple-system, BlinkMacSystemFont, Segoe UI, Roboto, Helvetica Neue, Arial, sans-serif Medium"/>
                <a:cs typeface="-apple-system, BlinkMacSystemFont, Segoe UI, Roboto, Helvetica Neue, Arial, sans-serif Medium"/>
                <a:sym typeface="-apple-system, BlinkMacSystemFont, Segoe UI, Roboto, Helvetica Neue, Arial, sans-serif Medium"/>
              </a:defRPr>
            </a:lvl1pPr>
          </a:lstStyle>
          <a:p>
            <a:pPr/>
            <a:r>
              <a:t>18.1</a:t>
            </a:r>
          </a:p>
        </p:txBody>
      </p:sp>
      <p:sp>
        <p:nvSpPr>
          <p:cNvPr id="197" name="Text 2"/>
          <p:cNvSpPr txBox="1"/>
          <p:nvPr/>
        </p:nvSpPr>
        <p:spPr>
          <a:xfrm>
            <a:off x="5719014" y="3333408"/>
            <a:ext cx="231024" cy="1394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0480" tIns="30480" rIns="30480" bIns="30480">
            <a:spAutoFit/>
          </a:bodyPr>
          <a:lstStyle>
            <a:lvl1pPr>
              <a:lnSpc>
                <a:spcPts val="600"/>
              </a:lnSpc>
              <a:defRPr sz="600">
                <a:solidFill>
                  <a:srgbClr val="FFFFFF"/>
                </a:solidFill>
                <a:latin typeface="-apple-system, BlinkMacSystemFont, Segoe UI, Roboto, Helvetica Neue, Arial, sans-serif Medium"/>
                <a:ea typeface="-apple-system, BlinkMacSystemFont, Segoe UI, Roboto, Helvetica Neue, Arial, sans-serif Medium"/>
                <a:cs typeface="-apple-system, BlinkMacSystemFont, Segoe UI, Roboto, Helvetica Neue, Arial, sans-serif Medium"/>
                <a:sym typeface="-apple-system, BlinkMacSystemFont, Segoe UI, Roboto, Helvetica Neue, Arial, sans-serif Medium"/>
              </a:defRPr>
            </a:lvl1pPr>
          </a:lstStyle>
          <a:p>
            <a:pPr/>
            <a:r>
              <a:t>16.4</a:t>
            </a:r>
          </a:p>
        </p:txBody>
      </p:sp>
      <p:sp>
        <p:nvSpPr>
          <p:cNvPr id="198" name="Text 3"/>
          <p:cNvSpPr txBox="1"/>
          <p:nvPr/>
        </p:nvSpPr>
        <p:spPr>
          <a:xfrm>
            <a:off x="5568629" y="3766287"/>
            <a:ext cx="231024" cy="1394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0480" tIns="30480" rIns="30480" bIns="30480">
            <a:spAutoFit/>
          </a:bodyPr>
          <a:lstStyle>
            <a:lvl1pPr>
              <a:lnSpc>
                <a:spcPts val="600"/>
              </a:lnSpc>
              <a:defRPr sz="600">
                <a:solidFill>
                  <a:srgbClr val="FFFFFF"/>
                </a:solidFill>
                <a:latin typeface="-apple-system, BlinkMacSystemFont, Segoe UI, Roboto, Helvetica Neue, Arial, sans-serif Medium"/>
                <a:ea typeface="-apple-system, BlinkMacSystemFont, Segoe UI, Roboto, Helvetica Neue, Arial, sans-serif Medium"/>
                <a:cs typeface="-apple-system, BlinkMacSystemFont, Segoe UI, Roboto, Helvetica Neue, Arial, sans-serif Medium"/>
                <a:sym typeface="-apple-system, BlinkMacSystemFont, Segoe UI, Roboto, Helvetica Neue, Arial, sans-serif Medium"/>
              </a:defRPr>
            </a:lvl1pPr>
          </a:lstStyle>
          <a:p>
            <a:pPr/>
            <a:r>
              <a:t>15.9</a:t>
            </a:r>
          </a:p>
        </p:txBody>
      </p:sp>
      <p:sp>
        <p:nvSpPr>
          <p:cNvPr id="199" name="Text 4"/>
          <p:cNvSpPr txBox="1"/>
          <p:nvPr/>
        </p:nvSpPr>
        <p:spPr>
          <a:xfrm>
            <a:off x="5304749" y="4199166"/>
            <a:ext cx="231025" cy="1394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0480" tIns="30480" rIns="30480" bIns="30480">
            <a:spAutoFit/>
          </a:bodyPr>
          <a:lstStyle>
            <a:lvl1pPr>
              <a:lnSpc>
                <a:spcPts val="600"/>
              </a:lnSpc>
              <a:defRPr sz="600">
                <a:solidFill>
                  <a:srgbClr val="FFFFFF"/>
                </a:solidFill>
                <a:latin typeface="-apple-system, BlinkMacSystemFont, Segoe UI, Roboto, Helvetica Neue, Arial, sans-serif Medium"/>
                <a:ea typeface="-apple-system, BlinkMacSystemFont, Segoe UI, Roboto, Helvetica Neue, Arial, sans-serif Medium"/>
                <a:cs typeface="-apple-system, BlinkMacSystemFont, Segoe UI, Roboto, Helvetica Neue, Arial, sans-serif Medium"/>
                <a:sym typeface="-apple-system, BlinkMacSystemFont, Segoe UI, Roboto, Helvetica Neue, Arial, sans-serif Medium"/>
              </a:defRPr>
            </a:lvl1pPr>
          </a:lstStyle>
          <a:p>
            <a:pPr/>
            <a:r>
              <a:t>14.9</a:t>
            </a:r>
          </a:p>
        </p:txBody>
      </p:sp>
      <p:sp>
        <p:nvSpPr>
          <p:cNvPr id="200" name="Text 5"/>
          <p:cNvSpPr txBox="1"/>
          <p:nvPr/>
        </p:nvSpPr>
        <p:spPr>
          <a:xfrm>
            <a:off x="4853859" y="4632045"/>
            <a:ext cx="231024" cy="1394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0480" tIns="30480" rIns="30480" bIns="30480">
            <a:spAutoFit/>
          </a:bodyPr>
          <a:lstStyle>
            <a:lvl1pPr>
              <a:lnSpc>
                <a:spcPts val="600"/>
              </a:lnSpc>
              <a:defRPr sz="600">
                <a:latin typeface="-apple-system, BlinkMacSystemFont, Segoe UI, Roboto, Helvetica Neue, Arial, sans-serif Medium"/>
                <a:ea typeface="-apple-system, BlinkMacSystemFont, Segoe UI, Roboto, Helvetica Neue, Arial, sans-serif Medium"/>
                <a:cs typeface="-apple-system, BlinkMacSystemFont, Segoe UI, Roboto, Helvetica Neue, Arial, sans-serif Medium"/>
                <a:sym typeface="-apple-system, BlinkMacSystemFont, Segoe UI, Roboto, Helvetica Neue, Arial, sans-serif Medium"/>
              </a:defRPr>
            </a:lvl1pPr>
          </a:lstStyle>
          <a:p>
            <a:pPr/>
            <a:r>
              <a:t>13.3</a:t>
            </a:r>
          </a:p>
        </p:txBody>
      </p:sp>
      <p:sp>
        <p:nvSpPr>
          <p:cNvPr id="201" name="Text 6"/>
          <p:cNvSpPr txBox="1"/>
          <p:nvPr/>
        </p:nvSpPr>
        <p:spPr>
          <a:xfrm>
            <a:off x="4450231" y="5064924"/>
            <a:ext cx="231024" cy="1394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0480" tIns="30480" rIns="30480" bIns="30480">
            <a:spAutoFit/>
          </a:bodyPr>
          <a:lstStyle>
            <a:lvl1pPr>
              <a:lnSpc>
                <a:spcPts val="600"/>
              </a:lnSpc>
              <a:defRPr sz="600">
                <a:latin typeface="-apple-system, BlinkMacSystemFont, Segoe UI, Roboto, Helvetica Neue, Arial, sans-serif Medium"/>
                <a:ea typeface="-apple-system, BlinkMacSystemFont, Segoe UI, Roboto, Helvetica Neue, Arial, sans-serif Medium"/>
                <a:cs typeface="-apple-system, BlinkMacSystemFont, Segoe UI, Roboto, Helvetica Neue, Arial, sans-serif Medium"/>
                <a:sym typeface="-apple-system, BlinkMacSystemFont, Segoe UI, Roboto, Helvetica Neue, Arial, sans-serif Medium"/>
              </a:defRPr>
            </a:lvl1pPr>
          </a:lstStyle>
          <a:p>
            <a:pPr/>
            <a:r>
              <a:t>11.7</a:t>
            </a:r>
          </a:p>
        </p:txBody>
      </p:sp>
      <p:sp>
        <p:nvSpPr>
          <p:cNvPr id="202" name="Text 7"/>
          <p:cNvSpPr txBox="1"/>
          <p:nvPr/>
        </p:nvSpPr>
        <p:spPr>
          <a:xfrm>
            <a:off x="3867813" y="5497803"/>
            <a:ext cx="231024" cy="1394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0480" tIns="30480" rIns="30480" bIns="30480">
            <a:spAutoFit/>
          </a:bodyPr>
          <a:lstStyle>
            <a:lvl1pPr>
              <a:lnSpc>
                <a:spcPts val="600"/>
              </a:lnSpc>
              <a:defRPr sz="600">
                <a:latin typeface="-apple-system, BlinkMacSystemFont, Segoe UI, Roboto, Helvetica Neue, Arial, sans-serif Medium"/>
                <a:ea typeface="-apple-system, BlinkMacSystemFont, Segoe UI, Roboto, Helvetica Neue, Arial, sans-serif Medium"/>
                <a:cs typeface="-apple-system, BlinkMacSystemFont, Segoe UI, Roboto, Helvetica Neue, Arial, sans-serif Medium"/>
                <a:sym typeface="-apple-system, BlinkMacSystemFont, Segoe UI, Roboto, Helvetica Neue, Arial, sans-serif Medium"/>
              </a:defRPr>
            </a:lvl1pPr>
          </a:lstStyle>
          <a:p>
            <a:pPr/>
            <a:r>
              <a:t>9.67</a:t>
            </a:r>
          </a:p>
        </p:txBody>
      </p:sp>
      <p:sp>
        <p:nvSpPr>
          <p:cNvPr id="203" name="Text 8"/>
          <p:cNvSpPr txBox="1"/>
          <p:nvPr/>
        </p:nvSpPr>
        <p:spPr>
          <a:xfrm>
            <a:off x="7582019" y="2584489"/>
            <a:ext cx="2483496" cy="3225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600"/>
              </a:lnSpc>
              <a:defRPr sz="2000">
                <a:solidFill>
                  <a:srgbClr val="373B48"/>
                </a:solidFill>
                <a:latin typeface="Mona Sans Semi Bold"/>
                <a:ea typeface="Mona Sans Semi Bold"/>
                <a:cs typeface="Mona Sans Semi Bold"/>
                <a:sym typeface="Mona Sans Semi Bold"/>
              </a:defRPr>
            </a:lvl1pPr>
          </a:lstStyle>
          <a:p>
            <a:pPr/>
            <a:r>
              <a:t>Metro Leads the Pack</a:t>
            </a:r>
          </a:p>
        </p:txBody>
      </p:sp>
      <p:sp>
        <p:nvSpPr>
          <p:cNvPr id="204" name="Text 9"/>
          <p:cNvSpPr txBox="1"/>
          <p:nvPr/>
        </p:nvSpPr>
        <p:spPr>
          <a:xfrm>
            <a:off x="7582019" y="3115508"/>
            <a:ext cx="6312219" cy="6182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500"/>
              </a:lnSpc>
              <a:defRPr b="1" sz="160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defRPr>
            </a:pPr>
            <a:r>
              <a:t>Metro is the most popular mode</a:t>
            </a:r>
            <a:r>
              <a:rPr b="0"/>
              <a:t> at 18.09% — and also the most affordable, averaging just </a:t>
            </a:r>
            <a:r>
              <a:t>~₹23 per trip</a:t>
            </a:r>
            <a:r>
              <a:rPr b="0"/>
              <a:t>.</a:t>
            </a:r>
          </a:p>
        </p:txBody>
      </p:sp>
      <p:sp>
        <p:nvSpPr>
          <p:cNvPr id="205" name="Text 10"/>
          <p:cNvSpPr txBox="1"/>
          <p:nvPr/>
        </p:nvSpPr>
        <p:spPr>
          <a:xfrm>
            <a:off x="7582019" y="3973234"/>
            <a:ext cx="2949576" cy="322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600"/>
              </a:lnSpc>
              <a:defRPr sz="2000">
                <a:solidFill>
                  <a:srgbClr val="373B48"/>
                </a:solidFill>
                <a:latin typeface="Mona Sans Semi Bold"/>
                <a:ea typeface="Mona Sans Semi Bold"/>
                <a:cs typeface="Mona Sans Semi Bold"/>
                <a:sym typeface="Mona Sans Semi Bold"/>
              </a:defRPr>
            </a:lvl1pPr>
          </a:lstStyle>
          <a:p>
            <a:pPr/>
            <a:r>
              <a:t>The Expensive Alternative</a:t>
            </a:r>
          </a:p>
        </p:txBody>
      </p:sp>
      <p:sp>
        <p:nvSpPr>
          <p:cNvPr id="206" name="Text 11"/>
          <p:cNvSpPr txBox="1"/>
          <p:nvPr/>
        </p:nvSpPr>
        <p:spPr>
          <a:xfrm>
            <a:off x="7582019" y="4504252"/>
            <a:ext cx="6312219" cy="6182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500"/>
              </a:lnSpc>
              <a:defRPr sz="160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defRPr>
            </a:pPr>
            <a:r>
              <a:t>Cab/Uber users pay a steep premium — averaging </a:t>
            </a:r>
            <a:r>
              <a:rPr b="1"/>
              <a:t>~₹298 one-way</a:t>
            </a:r>
            <a:r>
              <a:t>, over 12× the Metro cost for similar distances.</a:t>
            </a:r>
          </a:p>
        </p:txBody>
      </p:sp>
      <p:sp>
        <p:nvSpPr>
          <p:cNvPr id="207" name="Shape 12"/>
          <p:cNvSpPr/>
          <p:nvPr/>
        </p:nvSpPr>
        <p:spPr>
          <a:xfrm>
            <a:off x="7582019" y="5386863"/>
            <a:ext cx="6312219" cy="1196222"/>
          </a:xfrm>
          <a:prstGeom prst="roundRect">
            <a:avLst>
              <a:gd name="adj" fmla="val 7462"/>
            </a:avLst>
          </a:prstGeom>
          <a:solidFill>
            <a:srgbClr val="D4D6D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208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794545" y="5710356"/>
            <a:ext cx="265629" cy="212528"/>
          </a:xfrm>
          <a:prstGeom prst="rect">
            <a:avLst/>
          </a:prstGeom>
          <a:ln w="12700">
            <a:miter lim="400000"/>
          </a:ln>
        </p:spPr>
      </p:pic>
      <p:sp>
        <p:nvSpPr>
          <p:cNvPr id="209" name="Text 13"/>
          <p:cNvSpPr txBox="1"/>
          <p:nvPr/>
        </p:nvSpPr>
        <p:spPr>
          <a:xfrm>
            <a:off x="8272701" y="5639037"/>
            <a:ext cx="5409010" cy="6182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500"/>
              </a:lnSpc>
              <a:defRPr sz="1600">
                <a:latin typeface="Funnel Sans"/>
                <a:ea typeface="Funnel Sans"/>
                <a:cs typeface="Funnel Sans"/>
                <a:sym typeface="Funnel Sans"/>
              </a:defRPr>
            </a:lvl1pPr>
          </a:lstStyle>
          <a:p>
            <a:pPr/>
            <a:r>
              <a:t>Metro offers the best value-for-money proposition for Pune students by a significant margin.</a:t>
            </a:r>
          </a:p>
        </p:txBody>
      </p:sp>
      <p:sp>
        <p:nvSpPr>
          <p:cNvPr id="210" name="Rectangle 17"/>
          <p:cNvSpPr/>
          <p:nvPr/>
        </p:nvSpPr>
        <p:spPr>
          <a:xfrm>
            <a:off x="12653909" y="7620000"/>
            <a:ext cx="1896534" cy="50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miter/>
          </a:ln>
        </p:spPr>
        <p:txBody>
          <a:bodyPr lIns="45719" rIns="45719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Text 0"/>
          <p:cNvSpPr txBox="1"/>
          <p:nvPr/>
        </p:nvSpPr>
        <p:spPr>
          <a:xfrm>
            <a:off x="708422" y="1309687"/>
            <a:ext cx="5739123" cy="611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4900"/>
              </a:lnSpc>
              <a:defRPr sz="3900">
                <a:solidFill>
                  <a:srgbClr val="373B48"/>
                </a:solidFill>
                <a:latin typeface="Mona Sans Semi Bold"/>
                <a:ea typeface="Mona Sans Semi Bold"/>
                <a:cs typeface="Mona Sans Semi Bold"/>
                <a:sym typeface="Mona Sans Semi Bold"/>
              </a:defRPr>
            </a:lvl1pPr>
          </a:lstStyle>
          <a:p>
            <a:pPr/>
            <a:r>
              <a:t>Bottlenecks &amp; Satisfaction</a:t>
            </a:r>
          </a:p>
        </p:txBody>
      </p:sp>
      <p:sp>
        <p:nvSpPr>
          <p:cNvPr id="213" name="Text 1"/>
          <p:cNvSpPr txBox="1"/>
          <p:nvPr/>
        </p:nvSpPr>
        <p:spPr>
          <a:xfrm>
            <a:off x="708421" y="2393632"/>
            <a:ext cx="1823394" cy="2993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400"/>
              </a:lnSpc>
              <a:defRPr sz="1900">
                <a:solidFill>
                  <a:srgbClr val="373B48"/>
                </a:solidFill>
                <a:latin typeface="Mona Sans Semi Bold"/>
                <a:ea typeface="Mona Sans Semi Bold"/>
                <a:cs typeface="Mona Sans Semi Bold"/>
                <a:sym typeface="Mona Sans Semi Bold"/>
              </a:defRPr>
            </a:lvl1pPr>
          </a:lstStyle>
          <a:p>
            <a:pPr/>
            <a:r>
              <a:t>Top Delay Points</a:t>
            </a:r>
          </a:p>
        </p:txBody>
      </p:sp>
      <p:pic>
        <p:nvPicPr>
          <p:cNvPr id="214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08422" y="2912983"/>
            <a:ext cx="6362701" cy="3616693"/>
          </a:xfrm>
          <a:prstGeom prst="rect">
            <a:avLst/>
          </a:prstGeom>
          <a:ln w="12700">
            <a:miter lim="400000"/>
          </a:ln>
        </p:spPr>
      </p:pic>
      <p:sp>
        <p:nvSpPr>
          <p:cNvPr id="215" name="Text 2"/>
          <p:cNvSpPr txBox="1"/>
          <p:nvPr/>
        </p:nvSpPr>
        <p:spPr>
          <a:xfrm>
            <a:off x="1308312" y="3254559"/>
            <a:ext cx="208385" cy="1394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0480" tIns="30480" rIns="30480" bIns="30480">
            <a:spAutoFit/>
          </a:bodyPr>
          <a:lstStyle>
            <a:lvl1pPr>
              <a:lnSpc>
                <a:spcPts val="600"/>
              </a:lnSpc>
              <a:defRPr sz="600">
                <a:solidFill>
                  <a:srgbClr val="FFFFFF"/>
                </a:solidFill>
                <a:latin typeface="-apple-system, BlinkMacSystemFont, Segoe UI, Roboto, Helvetica Neue, Arial, sans-serif Medium"/>
                <a:ea typeface="-apple-system, BlinkMacSystemFont, Segoe UI, Roboto, Helvetica Neue, Arial, sans-serif Medium"/>
                <a:cs typeface="-apple-system, BlinkMacSystemFont, Segoe UI, Roboto, Helvetica Neue, Arial, sans-serif Medium"/>
                <a:sym typeface="-apple-system, BlinkMacSystemFont, Segoe UI, Roboto, Helvetica Neue, Arial, sans-serif Medium"/>
              </a:defRPr>
            </a:lvl1pPr>
          </a:lstStyle>
          <a:p>
            <a:pPr/>
            <a:r>
              <a:t>133</a:t>
            </a:r>
          </a:p>
        </p:txBody>
      </p:sp>
      <p:sp>
        <p:nvSpPr>
          <p:cNvPr id="216" name="Text 3"/>
          <p:cNvSpPr txBox="1"/>
          <p:nvPr/>
        </p:nvSpPr>
        <p:spPr>
          <a:xfrm>
            <a:off x="2541909" y="4020596"/>
            <a:ext cx="155667" cy="1394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0480" tIns="30480" rIns="30480" bIns="30480">
            <a:spAutoFit/>
          </a:bodyPr>
          <a:lstStyle>
            <a:lvl1pPr>
              <a:lnSpc>
                <a:spcPts val="600"/>
              </a:lnSpc>
              <a:defRPr sz="600">
                <a:solidFill>
                  <a:srgbClr val="FFFFFF"/>
                </a:solidFill>
                <a:latin typeface="-apple-system, BlinkMacSystemFont, Segoe UI, Roboto, Helvetica Neue, Arial, sans-serif Medium"/>
                <a:ea typeface="-apple-system, BlinkMacSystemFont, Segoe UI, Roboto, Helvetica Neue, Arial, sans-serif Medium"/>
                <a:cs typeface="-apple-system, BlinkMacSystemFont, Segoe UI, Roboto, Helvetica Neue, Arial, sans-serif Medium"/>
                <a:sym typeface="-apple-system, BlinkMacSystemFont, Segoe UI, Roboto, Helvetica Neue, Arial, sans-serif Medium"/>
              </a:defRPr>
            </a:lvl1pPr>
          </a:lstStyle>
          <a:p>
            <a:pPr/>
            <a:r>
              <a:t>98</a:t>
            </a:r>
          </a:p>
        </p:txBody>
      </p:sp>
      <p:sp>
        <p:nvSpPr>
          <p:cNvPr id="217" name="Text 4"/>
          <p:cNvSpPr txBox="1"/>
          <p:nvPr/>
        </p:nvSpPr>
        <p:spPr>
          <a:xfrm>
            <a:off x="3749149" y="4545877"/>
            <a:ext cx="155667" cy="1394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0480" tIns="30480" rIns="30480" bIns="30480">
            <a:spAutoFit/>
          </a:bodyPr>
          <a:lstStyle>
            <a:lvl1pPr>
              <a:lnSpc>
                <a:spcPts val="600"/>
              </a:lnSpc>
              <a:defRPr sz="600">
                <a:solidFill>
                  <a:srgbClr val="FFFFFF"/>
                </a:solidFill>
                <a:latin typeface="-apple-system, BlinkMacSystemFont, Segoe UI, Roboto, Helvetica Neue, Arial, sans-serif Medium"/>
                <a:ea typeface="-apple-system, BlinkMacSystemFont, Segoe UI, Roboto, Helvetica Neue, Arial, sans-serif Medium"/>
                <a:cs typeface="-apple-system, BlinkMacSystemFont, Segoe UI, Roboto, Helvetica Neue, Arial, sans-serif Medium"/>
                <a:sym typeface="-apple-system, BlinkMacSystemFont, Segoe UI, Roboto, Helvetica Neue, Arial, sans-serif Medium"/>
              </a:defRPr>
            </a:lvl1pPr>
          </a:lstStyle>
          <a:p>
            <a:pPr/>
            <a:r>
              <a:t>74</a:t>
            </a:r>
          </a:p>
        </p:txBody>
      </p:sp>
      <p:sp>
        <p:nvSpPr>
          <p:cNvPr id="218" name="Text 5"/>
          <p:cNvSpPr txBox="1"/>
          <p:nvPr/>
        </p:nvSpPr>
        <p:spPr>
          <a:xfrm>
            <a:off x="4956388" y="4830403"/>
            <a:ext cx="155667" cy="1394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0480" tIns="30480" rIns="30480" bIns="30480">
            <a:spAutoFit/>
          </a:bodyPr>
          <a:lstStyle>
            <a:lvl1pPr>
              <a:lnSpc>
                <a:spcPts val="600"/>
              </a:lnSpc>
              <a:defRPr sz="600">
                <a:latin typeface="-apple-system, BlinkMacSystemFont, Segoe UI, Roboto, Helvetica Neue, Arial, sans-serif Medium"/>
                <a:ea typeface="-apple-system, BlinkMacSystemFont, Segoe UI, Roboto, Helvetica Neue, Arial, sans-serif Medium"/>
                <a:cs typeface="-apple-system, BlinkMacSystemFont, Segoe UI, Roboto, Helvetica Neue, Arial, sans-serif Medium"/>
                <a:sym typeface="-apple-system, BlinkMacSystemFont, Segoe UI, Roboto, Helvetica Neue, Arial, sans-serif Medium"/>
              </a:defRPr>
            </a:lvl1pPr>
          </a:lstStyle>
          <a:p>
            <a:pPr/>
            <a:r>
              <a:t>61</a:t>
            </a:r>
          </a:p>
        </p:txBody>
      </p:sp>
      <p:sp>
        <p:nvSpPr>
          <p:cNvPr id="219" name="Text 6"/>
          <p:cNvSpPr txBox="1"/>
          <p:nvPr/>
        </p:nvSpPr>
        <p:spPr>
          <a:xfrm>
            <a:off x="6137268" y="3276446"/>
            <a:ext cx="208385" cy="1394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0480" tIns="30480" rIns="30480" bIns="30480">
            <a:spAutoFit/>
          </a:bodyPr>
          <a:lstStyle>
            <a:lvl1pPr>
              <a:lnSpc>
                <a:spcPts val="600"/>
              </a:lnSpc>
              <a:defRPr sz="600">
                <a:latin typeface="-apple-system, BlinkMacSystemFont, Segoe UI, Roboto, Helvetica Neue, Arial, sans-serif Medium"/>
                <a:ea typeface="-apple-system, BlinkMacSystemFont, Segoe UI, Roboto, Helvetica Neue, Arial, sans-serif Medium"/>
                <a:cs typeface="-apple-system, BlinkMacSystemFont, Segoe UI, Roboto, Helvetica Neue, Arial, sans-serif Medium"/>
                <a:sym typeface="-apple-system, BlinkMacSystemFont, Segoe UI, Roboto, Helvetica Neue, Arial, sans-serif Medium"/>
              </a:defRPr>
            </a:lvl1pPr>
          </a:lstStyle>
          <a:p>
            <a:pPr/>
            <a:r>
              <a:t>132</a:t>
            </a:r>
          </a:p>
        </p:txBody>
      </p:sp>
      <p:sp>
        <p:nvSpPr>
          <p:cNvPr id="220" name="Text 7"/>
          <p:cNvSpPr txBox="1"/>
          <p:nvPr/>
        </p:nvSpPr>
        <p:spPr>
          <a:xfrm>
            <a:off x="7569755" y="2393632"/>
            <a:ext cx="1930966" cy="2993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400"/>
              </a:lnSpc>
              <a:defRPr sz="1900">
                <a:solidFill>
                  <a:srgbClr val="373B48"/>
                </a:solidFill>
                <a:latin typeface="Mona Sans Semi Bold"/>
                <a:ea typeface="Mona Sans Semi Bold"/>
                <a:cs typeface="Mona Sans Semi Bold"/>
                <a:sym typeface="Mona Sans Semi Bold"/>
              </a:defRPr>
            </a:lvl1pPr>
          </a:lstStyle>
          <a:p>
            <a:pPr/>
            <a:r>
              <a:t>The #1 Pain Point</a:t>
            </a:r>
          </a:p>
        </p:txBody>
      </p:sp>
      <p:sp>
        <p:nvSpPr>
          <p:cNvPr id="221" name="Text 8"/>
          <p:cNvSpPr txBox="1"/>
          <p:nvPr/>
        </p:nvSpPr>
        <p:spPr>
          <a:xfrm>
            <a:off x="7569755" y="2890479"/>
            <a:ext cx="6359844" cy="5924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400"/>
              </a:lnSpc>
              <a:defRPr b="1" sz="150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defRPr>
            </a:pPr>
            <a:r>
              <a:t>"Waiting for Bus/Metro"</a:t>
            </a:r>
            <a:r>
              <a:rPr b="0"/>
              <a:t> was reported in 133 cases — the single largest bottleneck in the Pune student commute experience.</a:t>
            </a:r>
          </a:p>
        </p:txBody>
      </p:sp>
      <p:sp>
        <p:nvSpPr>
          <p:cNvPr id="222" name="Text 9"/>
          <p:cNvSpPr txBox="1"/>
          <p:nvPr/>
        </p:nvSpPr>
        <p:spPr>
          <a:xfrm>
            <a:off x="7569755" y="3683794"/>
            <a:ext cx="2950010" cy="2993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400"/>
              </a:lnSpc>
              <a:defRPr sz="1900">
                <a:solidFill>
                  <a:srgbClr val="373B48"/>
                </a:solidFill>
                <a:latin typeface="Mona Sans Semi Bold"/>
                <a:ea typeface="Mona Sans Semi Bold"/>
                <a:cs typeface="Mona Sans Semi Bold"/>
                <a:sym typeface="Mona Sans Semi Bold"/>
              </a:defRPr>
            </a:lvl1pPr>
          </a:lstStyle>
          <a:p>
            <a:pPr/>
            <a:r>
              <a:t>Satisfaction vs. Travel Time</a:t>
            </a:r>
          </a:p>
        </p:txBody>
      </p:sp>
      <p:sp>
        <p:nvSpPr>
          <p:cNvPr id="223" name="Text 10"/>
          <p:cNvSpPr txBox="1"/>
          <p:nvPr/>
        </p:nvSpPr>
        <p:spPr>
          <a:xfrm>
            <a:off x="7569755" y="4180642"/>
            <a:ext cx="6359844" cy="8972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400"/>
              </a:lnSpc>
              <a:defRPr sz="150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defRPr>
            </a:pPr>
            <a:r>
              <a:t>Longer commutes don't automatically mean lower satisfaction — students on Metro (fast, cheap) rate satisfaction higher despite shared spaces. The relationship is </a:t>
            </a:r>
            <a:r>
              <a:rPr b="1"/>
              <a:t>mode-dependent</a:t>
            </a:r>
            <a:r>
              <a:t>, not purely time-dependent.</a:t>
            </a:r>
          </a:p>
        </p:txBody>
      </p:sp>
      <p:sp>
        <p:nvSpPr>
          <p:cNvPr id="224" name="Shape 11"/>
          <p:cNvSpPr/>
          <p:nvPr/>
        </p:nvSpPr>
        <p:spPr>
          <a:xfrm>
            <a:off x="7569755" y="5609152"/>
            <a:ext cx="6359844" cy="1107639"/>
          </a:xfrm>
          <a:prstGeom prst="roundRect">
            <a:avLst>
              <a:gd name="adj" fmla="val 7675"/>
            </a:avLst>
          </a:prstGeom>
          <a:solidFill>
            <a:srgbClr val="D4D6D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225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772162" y="5913596"/>
            <a:ext cx="253009" cy="202407"/>
          </a:xfrm>
          <a:prstGeom prst="rect">
            <a:avLst/>
          </a:prstGeom>
          <a:ln w="12700">
            <a:miter lim="400000"/>
          </a:ln>
        </p:spPr>
      </p:pic>
      <p:sp>
        <p:nvSpPr>
          <p:cNvPr id="226" name="Text 12"/>
          <p:cNvSpPr txBox="1"/>
          <p:nvPr/>
        </p:nvSpPr>
        <p:spPr>
          <a:xfrm>
            <a:off x="8227576" y="5840372"/>
            <a:ext cx="5499617" cy="5924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400"/>
              </a:lnSpc>
              <a:defRPr sz="1500">
                <a:latin typeface="Funnel Sans"/>
                <a:ea typeface="Funnel Sans"/>
                <a:cs typeface="Funnel Sans"/>
                <a:sym typeface="Funnel Sans"/>
              </a:defRPr>
            </a:lvl1pPr>
          </a:lstStyle>
          <a:p>
            <a:pPr/>
            <a:r>
              <a:t>Frequency of public transport matters more than speed alone for satisfaction outcomes.</a:t>
            </a:r>
          </a:p>
        </p:txBody>
      </p:sp>
      <p:sp>
        <p:nvSpPr>
          <p:cNvPr id="227" name="Rectangle 16"/>
          <p:cNvSpPr/>
          <p:nvPr/>
        </p:nvSpPr>
        <p:spPr>
          <a:xfrm>
            <a:off x="12653909" y="7620000"/>
            <a:ext cx="1896534" cy="50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miter/>
          </a:ln>
        </p:spPr>
        <p:txBody>
          <a:bodyPr lIns="45719" rIns="45719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  <a:ln w="12700">
            <a:miter lim="400000"/>
          </a:ln>
        </p:spPr>
      </p:pic>
      <p:sp>
        <p:nvSpPr>
          <p:cNvPr id="230" name="Text 0"/>
          <p:cNvSpPr txBox="1"/>
          <p:nvPr/>
        </p:nvSpPr>
        <p:spPr>
          <a:xfrm>
            <a:off x="6157197" y="1004054"/>
            <a:ext cx="7802406" cy="11824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700"/>
              </a:lnSpc>
              <a:defRPr sz="3700">
                <a:solidFill>
                  <a:srgbClr val="373B48"/>
                </a:solidFill>
                <a:latin typeface="Mona Sans Semi Bold"/>
                <a:ea typeface="Mona Sans Semi Bold"/>
                <a:cs typeface="Mona Sans Semi Bold"/>
                <a:sym typeface="Mona Sans Semi Bold"/>
              </a:defRPr>
            </a:lvl1pPr>
          </a:lstStyle>
          <a:p>
            <a:pPr/>
            <a:r>
              <a:t>Advanced Analysis — Crosstabs &amp; GroupBy</a:t>
            </a:r>
          </a:p>
        </p:txBody>
      </p:sp>
      <p:sp>
        <p:nvSpPr>
          <p:cNvPr id="231" name="Shape 1"/>
          <p:cNvSpPr/>
          <p:nvPr/>
        </p:nvSpPr>
        <p:spPr>
          <a:xfrm>
            <a:off x="6157197" y="2444948"/>
            <a:ext cx="7802406" cy="1391246"/>
          </a:xfrm>
          <a:prstGeom prst="roundRect">
            <a:avLst>
              <a:gd name="adj" fmla="val 7887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8CAC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2" name="Shape 2"/>
          <p:cNvSpPr/>
          <p:nvPr/>
        </p:nvSpPr>
        <p:spPr>
          <a:xfrm>
            <a:off x="6134337" y="2444948"/>
            <a:ext cx="91441" cy="1391246"/>
          </a:xfrm>
          <a:prstGeom prst="roundRect">
            <a:avLst>
              <a:gd name="adj" fmla="val 50000"/>
            </a:avLst>
          </a:prstGeom>
          <a:solidFill>
            <a:srgbClr val="373B4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33" name="Text 3"/>
          <p:cNvSpPr txBox="1"/>
          <p:nvPr/>
        </p:nvSpPr>
        <p:spPr>
          <a:xfrm>
            <a:off x="6440209" y="2659379"/>
            <a:ext cx="2189536" cy="2862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300"/>
              </a:lnSpc>
              <a:defRPr>
                <a:solidFill>
                  <a:srgbClr val="52586B"/>
                </a:solidFill>
                <a:latin typeface="Mona Sans Semi Bold"/>
                <a:ea typeface="Mona Sans Semi Bold"/>
                <a:cs typeface="Mona Sans Semi Bold"/>
                <a:sym typeface="Mona Sans Semi Bold"/>
              </a:defRPr>
            </a:lvl1pPr>
          </a:lstStyle>
          <a:p>
            <a:pPr/>
            <a:r>
              <a:t>Travel Time vs. Mode</a:t>
            </a:r>
          </a:p>
        </p:txBody>
      </p:sp>
      <p:sp>
        <p:nvSpPr>
          <p:cNvPr id="234" name="Text 4"/>
          <p:cNvSpPr txBox="1"/>
          <p:nvPr/>
        </p:nvSpPr>
        <p:spPr>
          <a:xfrm>
            <a:off x="6440209" y="3055977"/>
            <a:ext cx="7304963" cy="5467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200"/>
              </a:lnSpc>
              <a:defRPr b="1" sz="150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defRPr>
            </a:pPr>
            <a:r>
              <a:t>Metro is the fastest</a:t>
            </a:r>
            <a:r>
              <a:rPr b="0"/>
              <a:t> at ~39 min average, outperforming Cab (~51 min) and Bus (~63 min) — reflecting Pune's dedicated metro corridors.</a:t>
            </a:r>
          </a:p>
        </p:txBody>
      </p:sp>
      <p:sp>
        <p:nvSpPr>
          <p:cNvPr id="235" name="Shape 5"/>
          <p:cNvSpPr/>
          <p:nvPr/>
        </p:nvSpPr>
        <p:spPr>
          <a:xfrm>
            <a:off x="6157197" y="3998119"/>
            <a:ext cx="7802406" cy="1674139"/>
          </a:xfrm>
          <a:prstGeom prst="roundRect">
            <a:avLst>
              <a:gd name="adj" fmla="val 6554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8CAC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6" name="Shape 6"/>
          <p:cNvSpPr/>
          <p:nvPr/>
        </p:nvSpPr>
        <p:spPr>
          <a:xfrm>
            <a:off x="6134337" y="3998119"/>
            <a:ext cx="91441" cy="1674139"/>
          </a:xfrm>
          <a:prstGeom prst="roundRect">
            <a:avLst>
              <a:gd name="adj" fmla="val 50000"/>
            </a:avLst>
          </a:prstGeom>
          <a:solidFill>
            <a:srgbClr val="373B4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37" name="Text 7"/>
          <p:cNvSpPr txBox="1"/>
          <p:nvPr/>
        </p:nvSpPr>
        <p:spPr>
          <a:xfrm>
            <a:off x="6440209" y="4212549"/>
            <a:ext cx="2376055" cy="2862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300"/>
              </a:lnSpc>
              <a:defRPr>
                <a:solidFill>
                  <a:srgbClr val="52586B"/>
                </a:solidFill>
                <a:latin typeface="Mona Sans Semi Bold"/>
                <a:ea typeface="Mona Sans Semi Bold"/>
                <a:cs typeface="Mona Sans Semi Bold"/>
                <a:sym typeface="Mona Sans Semi Bold"/>
              </a:defRPr>
            </a:lvl1pPr>
          </a:lstStyle>
          <a:p>
            <a:pPr/>
            <a:r>
              <a:t>Starting Point vs. Mode</a:t>
            </a:r>
          </a:p>
        </p:txBody>
      </p:sp>
      <p:sp>
        <p:nvSpPr>
          <p:cNvPr id="238" name="Text 8"/>
          <p:cNvSpPr txBox="1"/>
          <p:nvPr/>
        </p:nvSpPr>
        <p:spPr>
          <a:xfrm>
            <a:off x="6440209" y="4609148"/>
            <a:ext cx="7304963" cy="8261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200"/>
              </a:lnSpc>
              <a:defRPr sz="150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defRPr>
            </a:pPr>
            <a:r>
              <a:t>Students from </a:t>
            </a:r>
            <a:r>
              <a:rPr b="1"/>
              <a:t>Kothrud and Baner</a:t>
            </a:r>
            <a:r>
              <a:t> show higher reliance on two-wheelers and autos, while those near metro stations (e.g., Hinjewadi corridor) lean strongly on public transit.</a:t>
            </a:r>
          </a:p>
        </p:txBody>
      </p:sp>
      <p:sp>
        <p:nvSpPr>
          <p:cNvPr id="239" name="Shape 9"/>
          <p:cNvSpPr/>
          <p:nvPr/>
        </p:nvSpPr>
        <p:spPr>
          <a:xfrm>
            <a:off x="6157197" y="5834181"/>
            <a:ext cx="7802406" cy="1391246"/>
          </a:xfrm>
          <a:prstGeom prst="roundRect">
            <a:avLst>
              <a:gd name="adj" fmla="val 7887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8CAC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0" name="Shape 10"/>
          <p:cNvSpPr/>
          <p:nvPr/>
        </p:nvSpPr>
        <p:spPr>
          <a:xfrm>
            <a:off x="6134337" y="5834181"/>
            <a:ext cx="91441" cy="1391246"/>
          </a:xfrm>
          <a:prstGeom prst="roundRect">
            <a:avLst>
              <a:gd name="adj" fmla="val 50000"/>
            </a:avLst>
          </a:prstGeom>
          <a:solidFill>
            <a:srgbClr val="373B4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41" name="Text 11"/>
          <p:cNvSpPr txBox="1"/>
          <p:nvPr/>
        </p:nvSpPr>
        <p:spPr>
          <a:xfrm>
            <a:off x="6440209" y="6048612"/>
            <a:ext cx="3201605" cy="2862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300"/>
              </a:lnSpc>
              <a:defRPr>
                <a:solidFill>
                  <a:srgbClr val="52586B"/>
                </a:solidFill>
                <a:latin typeface="Mona Sans Semi Bold"/>
                <a:ea typeface="Mona Sans Semi Bold"/>
                <a:cs typeface="Mona Sans Semi Bold"/>
                <a:sym typeface="Mona Sans Semi Bold"/>
              </a:defRPr>
            </a:lvl1pPr>
          </a:lstStyle>
          <a:p>
            <a:pPr/>
            <a:r>
              <a:t>Commute Category Distribution</a:t>
            </a:r>
          </a:p>
        </p:txBody>
      </p:sp>
      <p:sp>
        <p:nvSpPr>
          <p:cNvPr id="242" name="Text 12"/>
          <p:cNvSpPr txBox="1"/>
          <p:nvPr/>
        </p:nvSpPr>
        <p:spPr>
          <a:xfrm>
            <a:off x="6440209" y="6445210"/>
            <a:ext cx="7304963" cy="5467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200"/>
              </a:lnSpc>
              <a:defRPr sz="150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defRPr>
            </a:pPr>
            <a:r>
              <a:t>The engineered </a:t>
            </a:r>
            <a:r>
              <a:rPr>
                <a:latin typeface="Consolas"/>
                <a:ea typeface="Consolas"/>
                <a:cs typeface="Consolas"/>
                <a:sym typeface="Consolas"/>
              </a:rPr>
              <a:t>Commute_Category</a:t>
            </a:r>
            <a:r>
              <a:t> column revealed that </a:t>
            </a:r>
            <a:r>
              <a:rPr b="1"/>
              <a:t>Medium commutes (30–75 min)</a:t>
            </a:r>
            <a:r>
              <a:t> dominate, covering the majority of surveyed students.</a:t>
            </a:r>
          </a:p>
        </p:txBody>
      </p:sp>
      <p:sp>
        <p:nvSpPr>
          <p:cNvPr id="243" name="Rectangle 15"/>
          <p:cNvSpPr/>
          <p:nvPr/>
        </p:nvSpPr>
        <p:spPr>
          <a:xfrm>
            <a:off x="12653909" y="7620000"/>
            <a:ext cx="1896534" cy="50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miter/>
          </a:ln>
        </p:spPr>
        <p:txBody>
          <a:bodyPr lIns="45719" rIns="45719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Text 0"/>
          <p:cNvSpPr txBox="1"/>
          <p:nvPr/>
        </p:nvSpPr>
        <p:spPr>
          <a:xfrm>
            <a:off x="710208" y="558045"/>
            <a:ext cx="7198178" cy="611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4900"/>
              </a:lnSpc>
              <a:defRPr sz="3900">
                <a:solidFill>
                  <a:srgbClr val="373B48"/>
                </a:solidFill>
                <a:latin typeface="Mona Sans Semi Bold"/>
                <a:ea typeface="Mona Sans Semi Bold"/>
                <a:cs typeface="Mona Sans Semi Bold"/>
                <a:sym typeface="Mona Sans Semi Bold"/>
              </a:defRPr>
            </a:lvl1pPr>
          </a:lstStyle>
          <a:p>
            <a:pPr/>
            <a:r>
              <a:t>Conclusion &amp; Recommendations</a:t>
            </a:r>
          </a:p>
        </p:txBody>
      </p:sp>
      <p:pic>
        <p:nvPicPr>
          <p:cNvPr id="246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10208" y="1668660"/>
            <a:ext cx="8413195" cy="4695707"/>
          </a:xfrm>
          <a:prstGeom prst="rect">
            <a:avLst/>
          </a:prstGeom>
          <a:ln w="12700">
            <a:miter lim="400000"/>
          </a:ln>
        </p:spPr>
      </p:pic>
      <p:sp>
        <p:nvSpPr>
          <p:cNvPr id="247" name="Text 1"/>
          <p:cNvSpPr txBox="1"/>
          <p:nvPr/>
        </p:nvSpPr>
        <p:spPr>
          <a:xfrm>
            <a:off x="9626083" y="2903101"/>
            <a:ext cx="1564303" cy="2993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400"/>
              </a:lnSpc>
              <a:defRPr sz="1900">
                <a:solidFill>
                  <a:srgbClr val="373B48"/>
                </a:solidFill>
                <a:latin typeface="Mona Sans Semi Bold"/>
                <a:ea typeface="Mona Sans Semi Bold"/>
                <a:cs typeface="Mona Sans Semi Bold"/>
                <a:sym typeface="Mona Sans Semi Bold"/>
              </a:defRPr>
            </a:lvl1pPr>
          </a:lstStyle>
          <a:p>
            <a:pPr/>
            <a:r>
              <a:t>Key Takeaway</a:t>
            </a:r>
          </a:p>
        </p:txBody>
      </p:sp>
      <p:sp>
        <p:nvSpPr>
          <p:cNvPr id="248" name="Text 2"/>
          <p:cNvSpPr txBox="1"/>
          <p:nvPr/>
        </p:nvSpPr>
        <p:spPr>
          <a:xfrm>
            <a:off x="9626083" y="3401616"/>
            <a:ext cx="4301610" cy="12020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400"/>
              </a:lnSpc>
              <a:defRPr sz="150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defRPr>
            </a:pPr>
            <a:r>
              <a:t>Most students spend </a:t>
            </a:r>
            <a:r>
              <a:rPr b="1"/>
              <a:t>nearly an hour</a:t>
            </a:r>
            <a:r>
              <a:t> commuting daily. Metro emerges as the clear </a:t>
            </a:r>
            <a:r>
              <a:rPr b="1"/>
              <a:t>"Value for Money"</a:t>
            </a:r>
            <a:r>
              <a:t> option — fastest, cheapest, and most used.</a:t>
            </a:r>
          </a:p>
        </p:txBody>
      </p:sp>
      <p:sp>
        <p:nvSpPr>
          <p:cNvPr id="249" name="Text 3"/>
          <p:cNvSpPr txBox="1"/>
          <p:nvPr/>
        </p:nvSpPr>
        <p:spPr>
          <a:xfrm>
            <a:off x="9626083" y="4812743"/>
            <a:ext cx="2024516" cy="2993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400"/>
              </a:lnSpc>
              <a:defRPr sz="1900">
                <a:solidFill>
                  <a:srgbClr val="373B48"/>
                </a:solidFill>
                <a:latin typeface="Mona Sans Semi Bold"/>
                <a:ea typeface="Mona Sans Semi Bold"/>
                <a:cs typeface="Mona Sans Semi Bold"/>
                <a:sym typeface="Mona Sans Semi Bold"/>
              </a:defRPr>
            </a:lvl1pPr>
          </a:lstStyle>
          <a:p>
            <a:pPr/>
            <a:r>
              <a:t>Recommendations</a:t>
            </a:r>
          </a:p>
        </p:txBody>
      </p:sp>
      <p:sp>
        <p:nvSpPr>
          <p:cNvPr id="250" name="Image 1"/>
          <p:cNvSpPr/>
          <p:nvPr/>
        </p:nvSpPr>
        <p:spPr>
          <a:xfrm>
            <a:off x="786289" y="6782752"/>
            <a:ext cx="304325" cy="304325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251" name="Text 4"/>
          <p:cNvSpPr txBox="1"/>
          <p:nvPr/>
        </p:nvSpPr>
        <p:spPr>
          <a:xfrm>
            <a:off x="1369575" y="6772750"/>
            <a:ext cx="3592593" cy="8972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400"/>
              </a:lnSpc>
              <a:defRPr b="1" sz="150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defRPr>
            </a:pPr>
            <a:r>
              <a:t>Increase public transport frequency</a:t>
            </a:r>
            <a:r>
              <a:rPr b="0"/>
              <a:t> to directly address the top bottleneck: waiting time.</a:t>
            </a:r>
          </a:p>
        </p:txBody>
      </p:sp>
      <p:sp>
        <p:nvSpPr>
          <p:cNvPr id="252" name="Image 2"/>
          <p:cNvSpPr/>
          <p:nvPr/>
        </p:nvSpPr>
        <p:spPr>
          <a:xfrm>
            <a:off x="5265182" y="6782752"/>
            <a:ext cx="304325" cy="304325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253" name="Text 5"/>
          <p:cNvSpPr txBox="1"/>
          <p:nvPr/>
        </p:nvSpPr>
        <p:spPr>
          <a:xfrm>
            <a:off x="5848468" y="6772750"/>
            <a:ext cx="3592712" cy="8972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400"/>
              </a:lnSpc>
              <a:defRPr b="1" sz="150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defRPr>
            </a:pPr>
            <a:r>
              <a:t>Improve last-mile connectivity</a:t>
            </a:r>
            <a:r>
              <a:rPr b="0"/>
              <a:t> from metro stations to residential zones in Kothrud and Baner.</a:t>
            </a:r>
          </a:p>
        </p:txBody>
      </p:sp>
      <p:sp>
        <p:nvSpPr>
          <p:cNvPr id="254" name="Image 3"/>
          <p:cNvSpPr/>
          <p:nvPr/>
        </p:nvSpPr>
        <p:spPr>
          <a:xfrm>
            <a:off x="9744194" y="6782752"/>
            <a:ext cx="304325" cy="304325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255" name="Text 6"/>
          <p:cNvSpPr txBox="1"/>
          <p:nvPr/>
        </p:nvSpPr>
        <p:spPr>
          <a:xfrm>
            <a:off x="10327481" y="6772750"/>
            <a:ext cx="3592712" cy="5924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400"/>
              </a:lnSpc>
              <a:defRPr b="1" sz="150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defRPr>
            </a:pPr>
            <a:r>
              <a:t>Expand metro route coverage</a:t>
            </a:r>
            <a:r>
              <a:rPr b="0"/>
              <a:t> to reduce two-wheeler dependency in outer areas.</a:t>
            </a:r>
          </a:p>
        </p:txBody>
      </p:sp>
      <p:sp>
        <p:nvSpPr>
          <p:cNvPr id="256" name="Rectangle 12"/>
          <p:cNvSpPr/>
          <p:nvPr/>
        </p:nvSpPr>
        <p:spPr>
          <a:xfrm>
            <a:off x="12653909" y="7620000"/>
            <a:ext cx="1896534" cy="50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miter/>
          </a:ln>
        </p:spPr>
        <p:txBody>
          <a:bodyPr lIns="45719" rIns="45719" anchor="ctr"/>
          <a:lstStyle/>
          <a:p>
            <a:pPr algn="ctr"/>
          </a:p>
        </p:txBody>
      </p:sp>
      <p:pic>
        <p:nvPicPr>
          <p:cNvPr id="257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32576" y="6629040"/>
            <a:ext cx="611750" cy="611750"/>
          </a:xfrm>
          <a:prstGeom prst="rect">
            <a:avLst/>
          </a:prstGeom>
          <a:ln w="12700">
            <a:miter lim="400000"/>
          </a:ln>
        </p:spPr>
      </p:pic>
      <p:pic>
        <p:nvPicPr>
          <p:cNvPr id="258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111469" y="6629040"/>
            <a:ext cx="611750" cy="611750"/>
          </a:xfrm>
          <a:prstGeom prst="rect">
            <a:avLst/>
          </a:prstGeom>
          <a:ln w="12700">
            <a:miter lim="400000"/>
          </a:ln>
        </p:spPr>
      </p:pic>
      <p:pic>
        <p:nvPicPr>
          <p:cNvPr id="259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590482" y="6629040"/>
            <a:ext cx="611750" cy="61175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Text 0"/>
          <p:cNvSpPr txBox="1"/>
          <p:nvPr/>
        </p:nvSpPr>
        <p:spPr>
          <a:xfrm>
            <a:off x="793790" y="695206"/>
            <a:ext cx="7933309" cy="6873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5500"/>
              </a:lnSpc>
              <a:defRPr sz="4400">
                <a:solidFill>
                  <a:srgbClr val="373B48"/>
                </a:solidFill>
                <a:latin typeface="Mona Sans Semi Bold"/>
                <a:ea typeface="Mona Sans Semi Bold"/>
                <a:cs typeface="Mona Sans Semi Bold"/>
                <a:sym typeface="Mona Sans Semi Bold"/>
              </a:defRPr>
            </a:lvl1pPr>
          </a:lstStyle>
          <a:p>
            <a:pPr/>
            <a:r>
              <a:t>Tech Stack &amp; Acknowledgments</a:t>
            </a:r>
          </a:p>
        </p:txBody>
      </p:sp>
      <p:sp>
        <p:nvSpPr>
          <p:cNvPr id="262" name="Text 1"/>
          <p:cNvSpPr txBox="1"/>
          <p:nvPr/>
        </p:nvSpPr>
        <p:spPr>
          <a:xfrm>
            <a:off x="793789" y="1970961"/>
            <a:ext cx="1394831" cy="338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200">
                <a:solidFill>
                  <a:srgbClr val="373B48"/>
                </a:solidFill>
                <a:latin typeface="Mona Sans Semi Bold"/>
                <a:ea typeface="Mona Sans Semi Bold"/>
                <a:cs typeface="Mona Sans Semi Bold"/>
                <a:sym typeface="Mona Sans Semi Bold"/>
              </a:defRPr>
            </a:lvl1pPr>
          </a:lstStyle>
          <a:p>
            <a:pPr/>
            <a:r>
              <a:t>Tools Used</a:t>
            </a:r>
          </a:p>
        </p:txBody>
      </p:sp>
      <p:sp>
        <p:nvSpPr>
          <p:cNvPr id="263" name="Text 2"/>
          <p:cNvSpPr txBox="1"/>
          <p:nvPr/>
        </p:nvSpPr>
        <p:spPr>
          <a:xfrm>
            <a:off x="1530905" y="2658308"/>
            <a:ext cx="882552" cy="338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200">
                <a:solidFill>
                  <a:srgbClr val="52586B"/>
                </a:solidFill>
                <a:latin typeface="Mona Sans Semi Bold"/>
                <a:ea typeface="Mona Sans Semi Bold"/>
                <a:cs typeface="Mona Sans Semi Bold"/>
                <a:sym typeface="Mona Sans Semi Bold"/>
              </a:defRPr>
            </a:lvl1pPr>
          </a:lstStyle>
          <a:p>
            <a:pPr/>
            <a:r>
              <a:t>Python</a:t>
            </a:r>
          </a:p>
        </p:txBody>
      </p:sp>
      <p:sp>
        <p:nvSpPr>
          <p:cNvPr id="264" name="Text 3"/>
          <p:cNvSpPr txBox="1"/>
          <p:nvPr/>
        </p:nvSpPr>
        <p:spPr>
          <a:xfrm>
            <a:off x="1530906" y="3239452"/>
            <a:ext cx="4921474" cy="334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800"/>
              </a:lnSpc>
              <a:defRPr sz="170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</a:lstStyle>
          <a:p>
            <a:pPr/>
            <a:r>
              <a:t>Core language for all data processing and analysis.</a:t>
            </a:r>
          </a:p>
        </p:txBody>
      </p:sp>
      <p:sp>
        <p:nvSpPr>
          <p:cNvPr id="265" name="Text 4"/>
          <p:cNvSpPr txBox="1"/>
          <p:nvPr/>
        </p:nvSpPr>
        <p:spPr>
          <a:xfrm>
            <a:off x="1530905" y="4133850"/>
            <a:ext cx="2217888" cy="338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200">
                <a:solidFill>
                  <a:srgbClr val="52586B"/>
                </a:solidFill>
                <a:latin typeface="Mona Sans Semi Bold"/>
                <a:ea typeface="Mona Sans Semi Bold"/>
                <a:cs typeface="Mona Sans Semi Bold"/>
                <a:sym typeface="Mona Sans Semi Bold"/>
              </a:defRPr>
            </a:lvl1pPr>
          </a:lstStyle>
          <a:p>
            <a:pPr/>
            <a:r>
              <a:t>Pandas &amp; NumPy</a:t>
            </a:r>
          </a:p>
        </p:txBody>
      </p:sp>
      <p:sp>
        <p:nvSpPr>
          <p:cNvPr id="266" name="Text 5"/>
          <p:cNvSpPr txBox="1"/>
          <p:nvPr/>
        </p:nvSpPr>
        <p:spPr>
          <a:xfrm>
            <a:off x="1530906" y="4714993"/>
            <a:ext cx="5507593" cy="6897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170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</a:lstStyle>
          <a:p>
            <a:pPr/>
            <a:r>
              <a:t>Data wrangling, cleaning, groupby, and crosstab operations.</a:t>
            </a:r>
          </a:p>
        </p:txBody>
      </p:sp>
      <p:sp>
        <p:nvSpPr>
          <p:cNvPr id="267" name="Text 6"/>
          <p:cNvSpPr txBox="1"/>
          <p:nvPr/>
        </p:nvSpPr>
        <p:spPr>
          <a:xfrm>
            <a:off x="1530905" y="5972293"/>
            <a:ext cx="2606428" cy="3385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200">
                <a:solidFill>
                  <a:srgbClr val="52586B"/>
                </a:solidFill>
                <a:latin typeface="Mona Sans Semi Bold"/>
                <a:ea typeface="Mona Sans Semi Bold"/>
                <a:cs typeface="Mona Sans Semi Bold"/>
                <a:sym typeface="Mona Sans Semi Bold"/>
              </a:defRPr>
            </a:lvl1pPr>
          </a:lstStyle>
          <a:p>
            <a:pPr/>
            <a:r>
              <a:t>Matplotlib &amp; Seaborn</a:t>
            </a:r>
          </a:p>
        </p:txBody>
      </p:sp>
      <p:sp>
        <p:nvSpPr>
          <p:cNvPr id="268" name="Text 7"/>
          <p:cNvSpPr txBox="1"/>
          <p:nvPr/>
        </p:nvSpPr>
        <p:spPr>
          <a:xfrm>
            <a:off x="1530906" y="6553437"/>
            <a:ext cx="5507593" cy="6897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170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</a:lstStyle>
          <a:p>
            <a:pPr/>
            <a:r>
              <a:t>All visualizations — bar charts, heatmaps, and distributions.</a:t>
            </a:r>
          </a:p>
        </p:txBody>
      </p:sp>
      <p:sp>
        <p:nvSpPr>
          <p:cNvPr id="269" name="Shape 8"/>
          <p:cNvSpPr/>
          <p:nvPr/>
        </p:nvSpPr>
        <p:spPr>
          <a:xfrm>
            <a:off x="7436167" y="1744147"/>
            <a:ext cx="6571418" cy="5790247"/>
          </a:xfrm>
          <a:prstGeom prst="roundRect">
            <a:avLst>
              <a:gd name="adj" fmla="val 2821"/>
            </a:avLst>
          </a:prstGeom>
          <a:solidFill>
            <a:srgbClr val="373B48">
              <a:alpha val="95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70" name="Text 9"/>
          <p:cNvSpPr txBox="1"/>
          <p:nvPr/>
        </p:nvSpPr>
        <p:spPr>
          <a:xfrm>
            <a:off x="7662981" y="1970961"/>
            <a:ext cx="2280098" cy="338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200">
                <a:solidFill>
                  <a:srgbClr val="FFFFFF"/>
                </a:solidFill>
                <a:latin typeface="Mona Sans Semi Bold"/>
                <a:ea typeface="Mona Sans Semi Bold"/>
                <a:cs typeface="Mona Sans Semi Bold"/>
                <a:sym typeface="Mona Sans Semi Bold"/>
              </a:defRPr>
            </a:lvl1pPr>
          </a:lstStyle>
          <a:p>
            <a:pPr/>
            <a:r>
              <a:t>Acknowledgments</a:t>
            </a:r>
          </a:p>
        </p:txBody>
      </p:sp>
      <p:sp>
        <p:nvSpPr>
          <p:cNvPr id="271" name="Text 10"/>
          <p:cNvSpPr txBox="1"/>
          <p:nvPr/>
        </p:nvSpPr>
        <p:spPr>
          <a:xfrm>
            <a:off x="7662981" y="2552105"/>
            <a:ext cx="6117790" cy="6897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800"/>
              </a:lnSpc>
              <a:defRPr sz="1700">
                <a:solidFill>
                  <a:srgbClr val="FFFFFF"/>
                </a:solidFill>
                <a:latin typeface="Funnel Sans"/>
                <a:ea typeface="Funnel Sans"/>
                <a:cs typeface="Funnel Sans"/>
                <a:sym typeface="Funnel Sans"/>
              </a:defRPr>
            </a:pPr>
            <a:r>
              <a:t>A heartfelt thank you to the </a:t>
            </a:r>
            <a:r>
              <a:rPr b="1"/>
              <a:t>724 student respondents</a:t>
            </a:r>
            <a:r>
              <a:t> whose honest answers made this analysis possible.</a:t>
            </a:r>
          </a:p>
        </p:txBody>
      </p:sp>
      <p:sp>
        <p:nvSpPr>
          <p:cNvPr id="272" name="Text 11"/>
          <p:cNvSpPr txBox="1"/>
          <p:nvPr/>
        </p:nvSpPr>
        <p:spPr>
          <a:xfrm>
            <a:off x="7662981" y="3481982"/>
            <a:ext cx="6117790" cy="6897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800"/>
              </a:lnSpc>
              <a:defRPr sz="1700">
                <a:solidFill>
                  <a:srgbClr val="FFFFFF"/>
                </a:solidFill>
                <a:latin typeface="Funnel Sans"/>
                <a:ea typeface="Funnel Sans"/>
                <a:cs typeface="Funnel Sans"/>
                <a:sym typeface="Funnel Sans"/>
              </a:defRPr>
            </a:pPr>
            <a:r>
              <a:t>Special thanks to our faculty mentor, </a:t>
            </a:r>
            <a:r>
              <a:rPr b="1"/>
              <a:t>Mrs. Snehal Bhosale</a:t>
            </a:r>
            <a:r>
              <a:t>, for guidance and support throughout the project.</a:t>
            </a:r>
          </a:p>
        </p:txBody>
      </p:sp>
      <p:sp>
        <p:nvSpPr>
          <p:cNvPr id="273" name="Text 12"/>
          <p:cNvSpPr txBox="1"/>
          <p:nvPr/>
        </p:nvSpPr>
        <p:spPr>
          <a:xfrm>
            <a:off x="7662981" y="4434602"/>
            <a:ext cx="2295378" cy="338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200">
                <a:solidFill>
                  <a:srgbClr val="FFFFFF"/>
                </a:solidFill>
                <a:latin typeface="Mona Sans Semi Bold"/>
                <a:ea typeface="Mona Sans Semi Bold"/>
                <a:cs typeface="Mona Sans Semi Bold"/>
                <a:sym typeface="Mona Sans Semi Bold"/>
              </a:defRPr>
            </a:lvl1pPr>
          </a:lstStyle>
          <a:p>
            <a:pPr/>
            <a:r>
              <a:t>Project Repository</a:t>
            </a:r>
          </a:p>
        </p:txBody>
      </p:sp>
      <p:sp>
        <p:nvSpPr>
          <p:cNvPr id="274" name="Text 13"/>
          <p:cNvSpPr txBox="1"/>
          <p:nvPr/>
        </p:nvSpPr>
        <p:spPr>
          <a:xfrm>
            <a:off x="7662981" y="5015746"/>
            <a:ext cx="6117790" cy="1400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800"/>
              </a:lnSpc>
              <a:defRPr sz="1700" u="sng">
                <a:solidFill>
                  <a:srgbClr val="A8ADBD"/>
                </a:solidFill>
                <a:latin typeface="Funnel Sans"/>
                <a:ea typeface="Funnel Sans"/>
                <a:cs typeface="Funnel Sans"/>
                <a:sym typeface="Funnel Sans"/>
              </a:defRPr>
            </a:pPr>
            <a:r>
              <a:rPr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hlinkClick r:id="rId2" invalidUrl="" action="" tgtFrame="" tooltip="" history="1" highlightClick="0" endSnd="0"/>
              </a:rPr>
              <a:t>github.com/tanishthagupta-wq/EDA-MiniProject-A3_Group1</a:t>
            </a:r>
          </a:p>
          <a:p>
            <a:pPr>
              <a:lnSpc>
                <a:spcPts val="2800"/>
              </a:lnSpc>
              <a:defRPr sz="1700" u="sng">
                <a:solidFill>
                  <a:srgbClr val="A8ADBD"/>
                </a:solidFill>
                <a:latin typeface="Funnel Sans"/>
                <a:ea typeface="Funnel Sans"/>
                <a:cs typeface="Funnel Sans"/>
                <a:sym typeface="Funnel Sans"/>
              </a:defRPr>
            </a:pPr>
          </a:p>
          <a:p>
            <a:pPr>
              <a:lnSpc>
                <a:spcPts val="2800"/>
              </a:lnSpc>
              <a:defRPr sz="1700" u="sng">
                <a:solidFill>
                  <a:srgbClr val="A8ADBD"/>
                </a:solidFill>
                <a:latin typeface="Funnel Sans"/>
                <a:ea typeface="Funnel Sans"/>
                <a:cs typeface="Funnel Sans"/>
                <a:sym typeface="Funnel Sans"/>
              </a:defRPr>
            </a:pPr>
            <a:r>
              <a:rPr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hlinkClick r:id="rId3" invalidUrl="" action="" tgtFrame="" tooltip="" history="1" highlightClick="0" endSnd="0"/>
              </a:rPr>
              <a:t>https://github.com/theTanmayAgarwal/EDA-MiniProject-A3_Group1</a:t>
            </a:r>
          </a:p>
        </p:txBody>
      </p:sp>
      <p:sp>
        <p:nvSpPr>
          <p:cNvPr id="275" name="Text 14"/>
          <p:cNvSpPr txBox="1"/>
          <p:nvPr/>
        </p:nvSpPr>
        <p:spPr>
          <a:xfrm>
            <a:off x="7662981" y="6659246"/>
            <a:ext cx="6117790" cy="6897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800"/>
              </a:lnSpc>
              <a:defRPr sz="1700">
                <a:solidFill>
                  <a:srgbClr val="FFFFFF"/>
                </a:solidFill>
                <a:latin typeface="Funnel Sans"/>
                <a:ea typeface="Funnel Sans"/>
                <a:cs typeface="Funnel Sans"/>
                <a:sym typeface="Funnel Sans"/>
              </a:defRPr>
            </a:pPr>
            <a:r>
              <a:t>EnTC A-3, Group 1 — Symbiosis Institute of Technology, Pune</a:t>
            </a:r>
          </a:p>
          <a:p>
            <a:pPr>
              <a:lnSpc>
                <a:spcPts val="2800"/>
              </a:lnSpc>
              <a:defRPr sz="1700">
                <a:solidFill>
                  <a:srgbClr val="FFFFFF"/>
                </a:solidFill>
                <a:latin typeface="Funnel Sans"/>
                <a:ea typeface="Funnel Sans"/>
                <a:cs typeface="Funnel Sans"/>
                <a:sym typeface="Funnel Sans"/>
              </a:defRPr>
            </a:pPr>
            <a:r>
              <a:t>~ Tannishtha &amp; Tanmay</a:t>
            </a:r>
          </a:p>
        </p:txBody>
      </p:sp>
      <p:sp>
        <p:nvSpPr>
          <p:cNvPr id="276" name="Rectangle 20"/>
          <p:cNvSpPr/>
          <p:nvPr/>
        </p:nvSpPr>
        <p:spPr>
          <a:xfrm>
            <a:off x="12653909" y="7620000"/>
            <a:ext cx="1896534" cy="50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miter/>
          </a:ln>
        </p:spPr>
        <p:txBody>
          <a:bodyPr lIns="45719" rIns="45719" anchor="ctr"/>
          <a:lstStyle/>
          <a:p>
            <a:pPr algn="ctr"/>
          </a:p>
        </p:txBody>
      </p:sp>
      <p:pic>
        <p:nvPicPr>
          <p:cNvPr id="277" name="pasted-movie.png" descr="pasted-movie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76947" y="2553314"/>
            <a:ext cx="687314" cy="687314"/>
          </a:xfrm>
          <a:prstGeom prst="rect">
            <a:avLst/>
          </a:prstGeom>
          <a:ln w="12700">
            <a:miter lim="400000"/>
          </a:ln>
        </p:spPr>
      </p:pic>
      <p:pic>
        <p:nvPicPr>
          <p:cNvPr id="278" name="pasted-movie.png" descr="pasted-movie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253241" y="4042788"/>
            <a:ext cx="1162898" cy="520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79" name="pasted-movie.png" descr="pasted-movie.png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171413" y="4670112"/>
            <a:ext cx="1286674" cy="520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80" name="pasted-movie.png" descr="pasted-movie.png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423985" y="5730878"/>
            <a:ext cx="821409" cy="8214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81" name="pasted-movie.png" descr="pasted-movie.png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393414" y="6764108"/>
            <a:ext cx="882552" cy="88255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